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7" r:id="rId3"/>
    <p:sldId id="257" r:id="rId4"/>
    <p:sldId id="258" r:id="rId5"/>
    <p:sldId id="269" r:id="rId6"/>
    <p:sldId id="260" r:id="rId7"/>
    <p:sldId id="261" r:id="rId8"/>
    <p:sldId id="270" r:id="rId9"/>
    <p:sldId id="271" r:id="rId10"/>
    <p:sldId id="263" r:id="rId11"/>
    <p:sldId id="264" r:id="rId12"/>
    <p:sldId id="265" r:id="rId13"/>
    <p:sldId id="266" r:id="rId14"/>
    <p:sldId id="268" r:id="rId15"/>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75" d="100"/>
          <a:sy n="75" d="100"/>
        </p:scale>
        <p:origin x="1134"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5BAEA-17D9-4231-B2BF-CD5C1C28B6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23C5B383-135B-407B-BB77-EB0DE71FEE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42887ADD-824B-4F51-A3D2-10CD4E7EE5D4}"/>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5" name="Footer Placeholder 4">
            <a:extLst>
              <a:ext uri="{FF2B5EF4-FFF2-40B4-BE49-F238E27FC236}">
                <a16:creationId xmlns:a16="http://schemas.microsoft.com/office/drawing/2014/main" id="{53335DBC-3A6F-4003-B637-98DFE4FEF333}"/>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0FFA06D3-03A4-4D27-A83A-7E102ADCE7D4}"/>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2519664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D3FF8-0C44-4321-9BA6-07A6CD90EAB5}"/>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F70FD2A3-F6D3-4E1A-B684-4A81C673956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F25EAEFF-00F6-4D8E-A9E5-157AC25B379C}"/>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5" name="Footer Placeholder 4">
            <a:extLst>
              <a:ext uri="{FF2B5EF4-FFF2-40B4-BE49-F238E27FC236}">
                <a16:creationId xmlns:a16="http://schemas.microsoft.com/office/drawing/2014/main" id="{16E0BEC0-B155-4C77-99C7-EDAD5FC69976}"/>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E6DDEA98-75ED-4EC4-A5FF-999425FB2910}"/>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558133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64A75-AC9F-431A-A14C-56788463D3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6A5CC007-E4A9-45EB-AB74-A6DC25D14D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B4BBA50-2529-447F-8FAD-E14E15287116}"/>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5" name="Footer Placeholder 4">
            <a:extLst>
              <a:ext uri="{FF2B5EF4-FFF2-40B4-BE49-F238E27FC236}">
                <a16:creationId xmlns:a16="http://schemas.microsoft.com/office/drawing/2014/main" id="{1896565B-6383-4057-B2F3-3BE6BC044E69}"/>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2525B9B1-C751-4FA5-BB86-E18AD133F23B}"/>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2687796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F58C4-B2D1-41C4-B5F9-1CF46D7F48BE}"/>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E1BB9C7B-BA09-4C8A-8132-0AF47E4D3A7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5CF28ED7-BAB0-4AFD-88EA-C8082DC9946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7620AEEE-BB08-4B19-A823-CA50E65DB350}"/>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6" name="Footer Placeholder 5">
            <a:extLst>
              <a:ext uri="{FF2B5EF4-FFF2-40B4-BE49-F238E27FC236}">
                <a16:creationId xmlns:a16="http://schemas.microsoft.com/office/drawing/2014/main" id="{1B36D7AF-C998-4233-8F8A-04B84E705BE0}"/>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7DB6D786-5C53-4079-BCC5-E472122E8353}"/>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2384308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522A-B4E6-4A0F-A941-376B63779238}"/>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88BCB030-854B-4C1E-ADC9-766A51E822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A3921D1-B2A9-4A58-8436-772D09E16D2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9894DE3C-11F5-458F-A0BA-0889C9AF8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1A65BD4-77DD-4669-BCB6-18FE195E6F4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D139E71B-D13D-453D-9279-8D0578DA7187}"/>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8" name="Footer Placeholder 7">
            <a:extLst>
              <a:ext uri="{FF2B5EF4-FFF2-40B4-BE49-F238E27FC236}">
                <a16:creationId xmlns:a16="http://schemas.microsoft.com/office/drawing/2014/main" id="{C3FEF8AA-0DFB-4CDE-8D6F-EE87322D248B}"/>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584F49F1-3C1D-4AAC-99B2-1E29FE892A6A}"/>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1103374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97F6-6322-4DC4-959D-4B7C737C9BF6}"/>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9584D227-1F26-4112-BBD2-D55BA3BDA80B}"/>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4" name="Footer Placeholder 3">
            <a:extLst>
              <a:ext uri="{FF2B5EF4-FFF2-40B4-BE49-F238E27FC236}">
                <a16:creationId xmlns:a16="http://schemas.microsoft.com/office/drawing/2014/main" id="{5093189F-3C9A-42E6-9D3D-74D4E55DF4CE}"/>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15F4E21A-DEE9-4715-A492-5B7CD1759B7C}"/>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288319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880296-A89A-4AC0-861E-96D8EDF87810}"/>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3" name="Footer Placeholder 2">
            <a:extLst>
              <a:ext uri="{FF2B5EF4-FFF2-40B4-BE49-F238E27FC236}">
                <a16:creationId xmlns:a16="http://schemas.microsoft.com/office/drawing/2014/main" id="{7B11566A-A991-4062-991D-1C3FB8567D8B}"/>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C04CEECF-7235-4F52-8120-4CCC488A4FA0}"/>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2608169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27FEC-F613-4532-9DF7-098F33C8C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7B8135CF-7471-4A40-86FF-74A4B860CC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E5FDE4D9-7851-4D44-AD5E-3CD4802D76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4BE6D6C-AE7B-48EC-B92D-0CB631E9281F}"/>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6" name="Footer Placeholder 5">
            <a:extLst>
              <a:ext uri="{FF2B5EF4-FFF2-40B4-BE49-F238E27FC236}">
                <a16:creationId xmlns:a16="http://schemas.microsoft.com/office/drawing/2014/main" id="{74FCE91B-8B74-415C-B4FE-02388B178D57}"/>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407D973D-A1A8-401A-B619-9F50E616DC96}"/>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2320903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0092D-0C3D-4D1A-8EA1-EC717670B3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D078624E-A17A-43A9-8B02-E9ABF11530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3913CF70-ACEB-4FE5-A229-292913F47E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F08DB0C-33E4-470F-AC1B-05A66806CF6C}"/>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6" name="Footer Placeholder 5">
            <a:extLst>
              <a:ext uri="{FF2B5EF4-FFF2-40B4-BE49-F238E27FC236}">
                <a16:creationId xmlns:a16="http://schemas.microsoft.com/office/drawing/2014/main" id="{ED466286-7C8E-4241-9922-A6593F8E4156}"/>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3AD5E59C-3A93-4DC2-8029-422362811A7C}"/>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3001871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07EDF-CF80-41CF-B1D7-5878AACC776F}"/>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78F619AF-F575-4C37-BE90-D66406BF800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BA35643D-3B5A-4F72-98F4-D427B4D4AB2B}"/>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5" name="Footer Placeholder 4">
            <a:extLst>
              <a:ext uri="{FF2B5EF4-FFF2-40B4-BE49-F238E27FC236}">
                <a16:creationId xmlns:a16="http://schemas.microsoft.com/office/drawing/2014/main" id="{61FAF79E-ADBF-40F7-8DC6-923C0A2030F8}"/>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5C283728-FD4C-492E-91CF-1E23F0277147}"/>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309112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97A0EA-4BA9-4BF6-A31F-60310053F6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BEF50A09-9E43-458A-A8D3-7B192B3E5A7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AC35EFF0-8EE4-4E47-ACDE-3A22B37F3610}"/>
              </a:ext>
            </a:extLst>
          </p:cNvPr>
          <p:cNvSpPr>
            <a:spLocks noGrp="1"/>
          </p:cNvSpPr>
          <p:nvPr>
            <p:ph type="dt" sz="half" idx="10"/>
          </p:nvPr>
        </p:nvSpPr>
        <p:spPr/>
        <p:txBody>
          <a:bodyPr/>
          <a:lstStyle/>
          <a:p>
            <a:fld id="{375563F0-404C-4268-B774-BF8DE997B9C8}" type="datetimeFigureOut">
              <a:rPr lang="en-TZ" smtClean="0"/>
              <a:t>02/18/2026</a:t>
            </a:fld>
            <a:endParaRPr lang="en-TZ"/>
          </a:p>
        </p:txBody>
      </p:sp>
      <p:sp>
        <p:nvSpPr>
          <p:cNvPr id="5" name="Footer Placeholder 4">
            <a:extLst>
              <a:ext uri="{FF2B5EF4-FFF2-40B4-BE49-F238E27FC236}">
                <a16:creationId xmlns:a16="http://schemas.microsoft.com/office/drawing/2014/main" id="{4DF3EB3A-ABDD-4B66-A7EB-042F5456BAFB}"/>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1A0C091A-E5F3-488E-8805-20D35F3ADA2D}"/>
              </a:ext>
            </a:extLst>
          </p:cNvPr>
          <p:cNvSpPr>
            <a:spLocks noGrp="1"/>
          </p:cNvSpPr>
          <p:nvPr>
            <p:ph type="sldNum" sz="quarter" idx="12"/>
          </p:nvPr>
        </p:nvSpPr>
        <p:spPr/>
        <p:txBody>
          <a:bodyPr/>
          <a:lstStyle/>
          <a:p>
            <a:fld id="{D783C75A-3024-4652-AFFA-DB6CD9A965B6}" type="slidenum">
              <a:rPr lang="en-TZ" smtClean="0"/>
              <a:t>‹#›</a:t>
            </a:fld>
            <a:endParaRPr lang="en-TZ"/>
          </a:p>
        </p:txBody>
      </p:sp>
    </p:spTree>
    <p:extLst>
      <p:ext uri="{BB962C8B-B14F-4D97-AF65-F5344CB8AC3E}">
        <p14:creationId xmlns:p14="http://schemas.microsoft.com/office/powerpoint/2010/main" val="739227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F23590-0CC3-471D-A8F6-A1908477C3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01530AF3-F3C8-43EF-92AC-8A2A162A2C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6B057C77-9C69-4811-9F3A-6DBDA31ACE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563F0-404C-4268-B774-BF8DE997B9C8}" type="datetimeFigureOut">
              <a:rPr lang="en-TZ" smtClean="0"/>
              <a:t>02/18/2026</a:t>
            </a:fld>
            <a:endParaRPr lang="en-TZ"/>
          </a:p>
        </p:txBody>
      </p:sp>
      <p:sp>
        <p:nvSpPr>
          <p:cNvPr id="5" name="Footer Placeholder 4">
            <a:extLst>
              <a:ext uri="{FF2B5EF4-FFF2-40B4-BE49-F238E27FC236}">
                <a16:creationId xmlns:a16="http://schemas.microsoft.com/office/drawing/2014/main" id="{10903B3A-4A97-42E4-B282-72634ADEED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Z"/>
          </a:p>
        </p:txBody>
      </p:sp>
      <p:sp>
        <p:nvSpPr>
          <p:cNvPr id="6" name="Slide Number Placeholder 5">
            <a:extLst>
              <a:ext uri="{FF2B5EF4-FFF2-40B4-BE49-F238E27FC236}">
                <a16:creationId xmlns:a16="http://schemas.microsoft.com/office/drawing/2014/main" id="{CC257F1D-520B-4784-866F-99F295FA72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83C75A-3024-4652-AFFA-DB6CD9A965B6}" type="slidenum">
              <a:rPr lang="en-TZ" smtClean="0"/>
              <a:t>‹#›</a:t>
            </a:fld>
            <a:endParaRPr lang="en-TZ"/>
          </a:p>
        </p:txBody>
      </p:sp>
    </p:spTree>
    <p:extLst>
      <p:ext uri="{BB962C8B-B14F-4D97-AF65-F5344CB8AC3E}">
        <p14:creationId xmlns:p14="http://schemas.microsoft.com/office/powerpoint/2010/main" val="14729927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23E90-C0CE-4279-9E27-2ADA0980B5D2}"/>
              </a:ext>
            </a:extLst>
          </p:cNvPr>
          <p:cNvSpPr>
            <a:spLocks noGrp="1"/>
          </p:cNvSpPr>
          <p:nvPr>
            <p:ph type="ctrTitle"/>
          </p:nvPr>
        </p:nvSpPr>
        <p:spPr>
          <a:xfrm>
            <a:off x="1600200" y="2372809"/>
            <a:ext cx="9067800" cy="2257063"/>
          </a:xfrm>
        </p:spPr>
        <p:txBody>
          <a:bodyPr>
            <a:normAutofit fontScale="90000"/>
          </a:bodyPr>
          <a:lstStyle/>
          <a:p>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RUAHA CATHOLIC UNIVERSITY(RUCU)</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FACULT OF INFORMATION AND COMMUNICATION TECHNOLOGY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DEPARTMENT OF COMPUTER SCIENCE</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TITLE</a:t>
            </a:r>
            <a:r>
              <a:rPr lang="en-US" sz="2400" dirty="0">
                <a:latin typeface="Times New Roman" panose="02020603050405020304" pitchFamily="18" charset="0"/>
                <a:cs typeface="Times New Roman" panose="02020603050405020304" pitchFamily="18" charset="0"/>
              </a:rPr>
              <a:t>:</a:t>
            </a:r>
            <a:r>
              <a:rPr lang="en-TZ" dirty="0"/>
              <a:t> </a:t>
            </a:r>
            <a:r>
              <a:rPr lang="en-TZ" sz="2000" dirty="0">
                <a:latin typeface="Times New Roman" panose="02020603050405020304" pitchFamily="18" charset="0"/>
                <a:cs typeface="Times New Roman" panose="02020603050405020304" pitchFamily="18" charset="0"/>
              </a:rPr>
              <a:t>SECURE DIGITAL EXCHANGE SYSTEM FOR INTER-HOSPITAL PATIENT TRANSFER</a:t>
            </a:r>
            <a:br>
              <a:rPr lang="en-TZ" dirty="0"/>
            </a:br>
            <a:endParaRPr lang="en-TZ" sz="1400" dirty="0"/>
          </a:p>
        </p:txBody>
      </p:sp>
      <p:sp>
        <p:nvSpPr>
          <p:cNvPr id="3" name="Subtitle 2">
            <a:extLst>
              <a:ext uri="{FF2B5EF4-FFF2-40B4-BE49-F238E27FC236}">
                <a16:creationId xmlns:a16="http://schemas.microsoft.com/office/drawing/2014/main" id="{F180BCD1-E8FE-42E2-A904-95565B029900}"/>
              </a:ext>
            </a:extLst>
          </p:cNvPr>
          <p:cNvSpPr>
            <a:spLocks noGrp="1"/>
          </p:cNvSpPr>
          <p:nvPr>
            <p:ph type="subTitle" idx="1"/>
          </p:nvPr>
        </p:nvSpPr>
        <p:spPr>
          <a:xfrm>
            <a:off x="1743919" y="5034987"/>
            <a:ext cx="9144000" cy="427792"/>
          </a:xfrm>
        </p:spPr>
        <p:txBody>
          <a:bodyPr/>
          <a:lstStyle/>
          <a:p>
            <a:r>
              <a:rPr lang="en-US" b="1" dirty="0">
                <a:latin typeface="Times New Roman" panose="02020603050405020304" pitchFamily="18" charset="0"/>
                <a:cs typeface="Times New Roman" panose="02020603050405020304" pitchFamily="18" charset="0"/>
              </a:rPr>
              <a:t>SUPERVISOR:MR COSMAS MASANJA</a:t>
            </a:r>
            <a:endParaRPr lang="en-TZ" b="1" dirty="0">
              <a:latin typeface="Times New Roman" panose="02020603050405020304" pitchFamily="18" charset="0"/>
              <a:cs typeface="Times New Roman" panose="02020603050405020304" pitchFamily="18" charset="0"/>
            </a:endParaRPr>
          </a:p>
        </p:txBody>
      </p:sp>
      <p:pic>
        <p:nvPicPr>
          <p:cNvPr id="8" name="Picture 1">
            <a:extLst>
              <a:ext uri="{FF2B5EF4-FFF2-40B4-BE49-F238E27FC236}">
                <a16:creationId xmlns:a16="http://schemas.microsoft.com/office/drawing/2014/main" id="{331BCDE6-C430-45E5-B3C1-7CD208D01F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8298" y="469245"/>
            <a:ext cx="2974693" cy="19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903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B603-0DEA-FEB2-1ACE-40FDCE8E1D4D}"/>
              </a:ext>
            </a:extLst>
          </p:cNvPr>
          <p:cNvSpPr>
            <a:spLocks noGrp="1"/>
          </p:cNvSpPr>
          <p:nvPr>
            <p:ph type="title"/>
          </p:nvPr>
        </p:nvSpPr>
        <p:spPr>
          <a:xfrm>
            <a:off x="1715947" y="272007"/>
            <a:ext cx="10515600" cy="1325563"/>
          </a:xfrm>
        </p:spPr>
        <p:txBody>
          <a:bodyPr>
            <a:normAutofit/>
          </a:bodyPr>
          <a:lstStyle/>
          <a:p>
            <a:pPr algn="ctr"/>
            <a:r>
              <a:rPr lang="en-US" dirty="0">
                <a:latin typeface="Times New Roman" panose="02020603050405020304" pitchFamily="18" charset="0"/>
                <a:cs typeface="Times New Roman" panose="02020603050405020304" pitchFamily="18" charset="0"/>
              </a:rPr>
              <a:t>GROUP MEMBERS</a:t>
            </a:r>
          </a:p>
        </p:txBody>
      </p:sp>
      <p:graphicFrame>
        <p:nvGraphicFramePr>
          <p:cNvPr id="4" name="Content Placeholder 3">
            <a:extLst>
              <a:ext uri="{FF2B5EF4-FFF2-40B4-BE49-F238E27FC236}">
                <a16:creationId xmlns:a16="http://schemas.microsoft.com/office/drawing/2014/main" id="{49162A79-ABA5-ABC1-0AF4-F07942C6E286}"/>
              </a:ext>
            </a:extLst>
          </p:cNvPr>
          <p:cNvGraphicFramePr>
            <a:graphicFrameLocks noGrp="1"/>
          </p:cNvGraphicFramePr>
          <p:nvPr>
            <p:ph idx="1"/>
            <p:extLst>
              <p:ext uri="{D42A27DB-BD31-4B8C-83A1-F6EECF244321}">
                <p14:modId xmlns:p14="http://schemas.microsoft.com/office/powerpoint/2010/main" val="3548714123"/>
              </p:ext>
            </p:extLst>
          </p:nvPr>
        </p:nvGraphicFramePr>
        <p:xfrm>
          <a:off x="838200" y="1825625"/>
          <a:ext cx="10515597" cy="4760368"/>
        </p:xfrm>
        <a:graphic>
          <a:graphicData uri="http://schemas.openxmlformats.org/drawingml/2006/table">
            <a:tbl>
              <a:tblPr firstRow="1" bandRow="1">
                <a:tableStyleId>{5C22544A-7EE6-4342-B048-85BDC9FD1C3A}</a:tableStyleId>
              </a:tblPr>
              <a:tblGrid>
                <a:gridCol w="678084">
                  <a:extLst>
                    <a:ext uri="{9D8B030D-6E8A-4147-A177-3AD203B41FA5}">
                      <a16:colId xmlns:a16="http://schemas.microsoft.com/office/drawing/2014/main" val="2370757542"/>
                    </a:ext>
                  </a:extLst>
                </a:gridCol>
                <a:gridCol w="5671594">
                  <a:extLst>
                    <a:ext uri="{9D8B030D-6E8A-4147-A177-3AD203B41FA5}">
                      <a16:colId xmlns:a16="http://schemas.microsoft.com/office/drawing/2014/main" val="1733110533"/>
                    </a:ext>
                  </a:extLst>
                </a:gridCol>
                <a:gridCol w="4165919">
                  <a:extLst>
                    <a:ext uri="{9D8B030D-6E8A-4147-A177-3AD203B41FA5}">
                      <a16:colId xmlns:a16="http://schemas.microsoft.com/office/drawing/2014/main" val="1617888792"/>
                    </a:ext>
                  </a:extLst>
                </a:gridCol>
              </a:tblGrid>
              <a:tr h="595046">
                <a:tc>
                  <a:txBody>
                    <a:bodyPr/>
                    <a:lstStyle/>
                    <a:p>
                      <a:r>
                        <a:rPr lang="en-US" dirty="0"/>
                        <a:t>S/N</a:t>
                      </a:r>
                    </a:p>
                  </a:txBody>
                  <a:tcPr/>
                </a:tc>
                <a:tc>
                  <a:txBody>
                    <a:bodyPr/>
                    <a:lstStyle/>
                    <a:p>
                      <a:r>
                        <a:rPr lang="en-US" dirty="0"/>
                        <a:t>STUDENT NAME</a:t>
                      </a:r>
                    </a:p>
                  </a:txBody>
                  <a:tcPr/>
                </a:tc>
                <a:tc>
                  <a:txBody>
                    <a:bodyPr/>
                    <a:lstStyle/>
                    <a:p>
                      <a:r>
                        <a:rPr lang="en-US" dirty="0"/>
                        <a:t>REGISTRATION NUMBER</a:t>
                      </a:r>
                    </a:p>
                  </a:txBody>
                  <a:tcPr/>
                </a:tc>
                <a:extLst>
                  <a:ext uri="{0D108BD9-81ED-4DB2-BD59-A6C34878D82A}">
                    <a16:rowId xmlns:a16="http://schemas.microsoft.com/office/drawing/2014/main" val="3715291078"/>
                  </a:ext>
                </a:extLst>
              </a:tr>
              <a:tr h="595046">
                <a:tc>
                  <a:txBody>
                    <a:bodyPr/>
                    <a:lstStyle/>
                    <a:p>
                      <a:r>
                        <a:rPr lang="en-US" dirty="0"/>
                        <a:t>1</a:t>
                      </a:r>
                    </a:p>
                  </a:txBody>
                  <a:tcPr/>
                </a:tc>
                <a:tc>
                  <a:txBody>
                    <a:bodyPr/>
                    <a:lstStyle/>
                    <a:p>
                      <a:r>
                        <a:rPr lang="en-US" dirty="0"/>
                        <a:t>JUMANNE J KAPINGU</a:t>
                      </a:r>
                    </a:p>
                  </a:txBody>
                  <a:tcPr/>
                </a:tc>
                <a:tc>
                  <a:txBody>
                    <a:bodyPr/>
                    <a:lstStyle/>
                    <a:p>
                      <a:r>
                        <a:rPr lang="en-US" dirty="0"/>
                        <a:t>RU/BCS/2023/164</a:t>
                      </a:r>
                    </a:p>
                  </a:txBody>
                  <a:tcPr/>
                </a:tc>
                <a:extLst>
                  <a:ext uri="{0D108BD9-81ED-4DB2-BD59-A6C34878D82A}">
                    <a16:rowId xmlns:a16="http://schemas.microsoft.com/office/drawing/2014/main" val="2738065680"/>
                  </a:ext>
                </a:extLst>
              </a:tr>
              <a:tr h="595046">
                <a:tc>
                  <a:txBody>
                    <a:bodyPr/>
                    <a:lstStyle/>
                    <a:p>
                      <a:r>
                        <a:rPr lang="en-US" dirty="0"/>
                        <a:t>2</a:t>
                      </a:r>
                    </a:p>
                  </a:txBody>
                  <a:tcPr/>
                </a:tc>
                <a:tc>
                  <a:txBody>
                    <a:bodyPr/>
                    <a:lstStyle/>
                    <a:p>
                      <a:r>
                        <a:rPr lang="en-US" dirty="0"/>
                        <a:t>YUSUPH A KONGA</a:t>
                      </a:r>
                    </a:p>
                  </a:txBody>
                  <a:tcPr/>
                </a:tc>
                <a:tc>
                  <a:txBody>
                    <a:bodyPr/>
                    <a:lstStyle/>
                    <a:p>
                      <a:r>
                        <a:rPr lang="en-US" dirty="0"/>
                        <a:t>RU/BCS/2023/120</a:t>
                      </a:r>
                    </a:p>
                  </a:txBody>
                  <a:tcPr/>
                </a:tc>
                <a:extLst>
                  <a:ext uri="{0D108BD9-81ED-4DB2-BD59-A6C34878D82A}">
                    <a16:rowId xmlns:a16="http://schemas.microsoft.com/office/drawing/2014/main" val="2806271454"/>
                  </a:ext>
                </a:extLst>
              </a:tr>
              <a:tr h="595046">
                <a:tc>
                  <a:txBody>
                    <a:bodyPr/>
                    <a:lstStyle/>
                    <a:p>
                      <a:r>
                        <a:rPr lang="en-US" dirty="0"/>
                        <a:t>3</a:t>
                      </a:r>
                    </a:p>
                  </a:txBody>
                  <a:tcPr/>
                </a:tc>
                <a:tc>
                  <a:txBody>
                    <a:bodyPr/>
                    <a:lstStyle/>
                    <a:p>
                      <a:r>
                        <a:rPr lang="en-US" dirty="0"/>
                        <a:t>JACKLINA P SAMPE</a:t>
                      </a:r>
                    </a:p>
                  </a:txBody>
                  <a:tcPr/>
                </a:tc>
                <a:tc>
                  <a:txBody>
                    <a:bodyPr/>
                    <a:lstStyle/>
                    <a:p>
                      <a:r>
                        <a:rPr lang="en-US" dirty="0"/>
                        <a:t>RU/BSCSE/2023/074</a:t>
                      </a:r>
                    </a:p>
                  </a:txBody>
                  <a:tcPr/>
                </a:tc>
                <a:extLst>
                  <a:ext uri="{0D108BD9-81ED-4DB2-BD59-A6C34878D82A}">
                    <a16:rowId xmlns:a16="http://schemas.microsoft.com/office/drawing/2014/main" val="229861910"/>
                  </a:ext>
                </a:extLst>
              </a:tr>
              <a:tr h="595046">
                <a:tc>
                  <a:txBody>
                    <a:bodyPr/>
                    <a:lstStyle/>
                    <a:p>
                      <a:r>
                        <a:rPr lang="en-US" dirty="0"/>
                        <a:t>4</a:t>
                      </a:r>
                    </a:p>
                  </a:txBody>
                  <a:tcPr/>
                </a:tc>
                <a:tc>
                  <a:txBody>
                    <a:bodyPr/>
                    <a:lstStyle/>
                    <a:p>
                      <a:r>
                        <a:rPr lang="en-US" dirty="0"/>
                        <a:t>MUUMINI R LYAKONA</a:t>
                      </a:r>
                    </a:p>
                  </a:txBody>
                  <a:tcPr/>
                </a:tc>
                <a:tc>
                  <a:txBody>
                    <a:bodyPr/>
                    <a:lstStyle/>
                    <a:p>
                      <a:r>
                        <a:rPr lang="en-US" dirty="0"/>
                        <a:t>RU/BCS/2024/215</a:t>
                      </a:r>
                    </a:p>
                  </a:txBody>
                  <a:tcPr/>
                </a:tc>
                <a:extLst>
                  <a:ext uri="{0D108BD9-81ED-4DB2-BD59-A6C34878D82A}">
                    <a16:rowId xmlns:a16="http://schemas.microsoft.com/office/drawing/2014/main" val="2340906139"/>
                  </a:ext>
                </a:extLst>
              </a:tr>
              <a:tr h="595046">
                <a:tc>
                  <a:txBody>
                    <a:bodyPr/>
                    <a:lstStyle/>
                    <a:p>
                      <a:r>
                        <a:rPr lang="en-US" dirty="0"/>
                        <a:t>5</a:t>
                      </a:r>
                    </a:p>
                  </a:txBody>
                  <a:tcPr/>
                </a:tc>
                <a:tc>
                  <a:txBody>
                    <a:bodyPr/>
                    <a:lstStyle/>
                    <a:p>
                      <a:r>
                        <a:rPr lang="en-US" dirty="0"/>
                        <a:t>MOHAMED  B.MOHAMED</a:t>
                      </a:r>
                    </a:p>
                  </a:txBody>
                  <a:tcPr/>
                </a:tc>
                <a:tc>
                  <a:txBody>
                    <a:bodyPr/>
                    <a:lstStyle/>
                    <a:p>
                      <a:r>
                        <a:rPr lang="en-US" dirty="0"/>
                        <a:t>RU/BSCSE/2024/050</a:t>
                      </a:r>
                    </a:p>
                  </a:txBody>
                  <a:tcPr/>
                </a:tc>
                <a:extLst>
                  <a:ext uri="{0D108BD9-81ED-4DB2-BD59-A6C34878D82A}">
                    <a16:rowId xmlns:a16="http://schemas.microsoft.com/office/drawing/2014/main" val="2616585000"/>
                  </a:ext>
                </a:extLst>
              </a:tr>
              <a:tr h="595046">
                <a:tc>
                  <a:txBody>
                    <a:bodyPr/>
                    <a:lstStyle/>
                    <a:p>
                      <a:r>
                        <a:rPr lang="en-US" dirty="0"/>
                        <a:t>6</a:t>
                      </a:r>
                    </a:p>
                  </a:txBody>
                  <a:tcPr/>
                </a:tc>
                <a:tc>
                  <a:txBody>
                    <a:bodyPr/>
                    <a:lstStyle/>
                    <a:p>
                      <a:r>
                        <a:rPr lang="en-US" dirty="0"/>
                        <a:t>BARAKA M.REVOCATUS </a:t>
                      </a:r>
                    </a:p>
                  </a:txBody>
                  <a:tcPr/>
                </a:tc>
                <a:tc>
                  <a:txBody>
                    <a:bodyPr/>
                    <a:lstStyle/>
                    <a:p>
                      <a:r>
                        <a:rPr lang="en-US" dirty="0"/>
                        <a:t>RU/BSCSE/2024/131</a:t>
                      </a:r>
                    </a:p>
                  </a:txBody>
                  <a:tcPr/>
                </a:tc>
                <a:extLst>
                  <a:ext uri="{0D108BD9-81ED-4DB2-BD59-A6C34878D82A}">
                    <a16:rowId xmlns:a16="http://schemas.microsoft.com/office/drawing/2014/main" val="959965605"/>
                  </a:ext>
                </a:extLst>
              </a:tr>
              <a:tr h="595046">
                <a:tc>
                  <a:txBody>
                    <a:bodyPr/>
                    <a:lstStyle/>
                    <a:p>
                      <a:r>
                        <a:rPr lang="en-US" dirty="0"/>
                        <a:t>7</a:t>
                      </a:r>
                    </a:p>
                  </a:txBody>
                  <a:tcPr/>
                </a:tc>
                <a:tc>
                  <a:txBody>
                    <a:bodyPr/>
                    <a:lstStyle/>
                    <a:p>
                      <a:r>
                        <a:rPr lang="en-US" dirty="0"/>
                        <a:t>DEOGRATIUS F. BONIFAS</a:t>
                      </a:r>
                    </a:p>
                  </a:txBody>
                  <a:tcPr/>
                </a:tc>
                <a:tc>
                  <a:txBody>
                    <a:bodyPr/>
                    <a:lstStyle/>
                    <a:p>
                      <a:r>
                        <a:rPr lang="en-US" dirty="0"/>
                        <a:t>RU/BSCSE/2024/003</a:t>
                      </a:r>
                    </a:p>
                  </a:txBody>
                  <a:tcPr/>
                </a:tc>
                <a:extLst>
                  <a:ext uri="{0D108BD9-81ED-4DB2-BD59-A6C34878D82A}">
                    <a16:rowId xmlns:a16="http://schemas.microsoft.com/office/drawing/2014/main" val="279877531"/>
                  </a:ext>
                </a:extLst>
              </a:tr>
            </a:tbl>
          </a:graphicData>
        </a:graphic>
      </p:graphicFrame>
    </p:spTree>
    <p:extLst>
      <p:ext uri="{BB962C8B-B14F-4D97-AF65-F5344CB8AC3E}">
        <p14:creationId xmlns:p14="http://schemas.microsoft.com/office/powerpoint/2010/main" val="1333539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31B80-2CE1-414B-B48B-163ED1424CD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PRESENTATION OUTLINE</a:t>
            </a:r>
            <a:r>
              <a:rPr lang="en-US" dirty="0"/>
              <a:t>.</a:t>
            </a:r>
            <a:endParaRPr lang="en-TZ" dirty="0"/>
          </a:p>
        </p:txBody>
      </p:sp>
      <p:sp>
        <p:nvSpPr>
          <p:cNvPr id="3" name="Content Placeholder 2">
            <a:extLst>
              <a:ext uri="{FF2B5EF4-FFF2-40B4-BE49-F238E27FC236}">
                <a16:creationId xmlns:a16="http://schemas.microsoft.com/office/drawing/2014/main" id="{218AE654-D4A7-4393-85C2-D93C20AFD424}"/>
              </a:ext>
            </a:extLst>
          </p:cNvPr>
          <p:cNvSpPr>
            <a:spLocks noGrp="1"/>
          </p:cNvSpPr>
          <p:nvPr>
            <p:ph idx="1"/>
          </p:nvPr>
        </p:nvSpPr>
        <p:spPr>
          <a:xfrm>
            <a:off x="838200" y="1314450"/>
            <a:ext cx="10515600" cy="4862513"/>
          </a:xfrm>
        </p:spPr>
        <p:txBody>
          <a:bodyPr>
            <a:normAutofit/>
          </a:bodyPr>
          <a:lstStyle/>
          <a:p>
            <a:pPr marL="0" indent="0">
              <a:buNone/>
            </a:pPr>
            <a:r>
              <a:rPr lang="en-TZ" sz="3200" dirty="0"/>
              <a:t>1. Introduction and Background</a:t>
            </a:r>
          </a:p>
          <a:p>
            <a:pPr marL="0" indent="0">
              <a:buNone/>
            </a:pPr>
            <a:r>
              <a:rPr lang="en-TZ" sz="3200" dirty="0"/>
              <a:t>2. Statement of the Problem</a:t>
            </a:r>
          </a:p>
          <a:p>
            <a:pPr marL="0" indent="0">
              <a:buNone/>
            </a:pPr>
            <a:r>
              <a:rPr lang="en-TZ" sz="3200" dirty="0"/>
              <a:t>3. Objectives of the Project</a:t>
            </a:r>
          </a:p>
          <a:p>
            <a:pPr marL="0" indent="0">
              <a:buNone/>
            </a:pPr>
            <a:r>
              <a:rPr lang="en-TZ" sz="3200" dirty="0"/>
              <a:t>4. Methodology</a:t>
            </a:r>
          </a:p>
          <a:p>
            <a:pPr marL="0" indent="0">
              <a:buNone/>
            </a:pPr>
            <a:r>
              <a:rPr lang="en-TZ" sz="3200" dirty="0"/>
              <a:t>5. Expected Outcomes</a:t>
            </a:r>
          </a:p>
          <a:p>
            <a:pPr marL="0" indent="0">
              <a:buNone/>
            </a:pPr>
            <a:r>
              <a:rPr lang="en-TZ" sz="3200" dirty="0"/>
              <a:t>6. Proposal Time Frame</a:t>
            </a:r>
          </a:p>
          <a:p>
            <a:pPr marL="0" indent="0">
              <a:buNone/>
            </a:pPr>
            <a:r>
              <a:rPr lang="en-TZ" sz="3200" dirty="0"/>
              <a:t>7. Budget</a:t>
            </a:r>
          </a:p>
          <a:p>
            <a:pPr marL="0" indent="0">
              <a:buNone/>
            </a:pPr>
            <a:r>
              <a:rPr lang="en-TZ" sz="3200" dirty="0"/>
              <a:t>8. Conclusion</a:t>
            </a:r>
          </a:p>
          <a:p>
            <a:pPr marL="0" indent="0">
              <a:buNone/>
            </a:pPr>
            <a:endParaRPr lang="en-TZ" dirty="0"/>
          </a:p>
          <a:p>
            <a:endParaRPr lang="en-TZ" dirty="0"/>
          </a:p>
        </p:txBody>
      </p:sp>
    </p:spTree>
    <p:extLst>
      <p:ext uri="{BB962C8B-B14F-4D97-AF65-F5344CB8AC3E}">
        <p14:creationId xmlns:p14="http://schemas.microsoft.com/office/powerpoint/2010/main" val="1533914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D5D0F-FA1F-4F6A-950A-AE007658D0F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 AND BACKGROUND</a:t>
            </a: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C077A3-7956-4942-AF48-D97B76F9C11A}"/>
              </a:ext>
            </a:extLst>
          </p:cNvPr>
          <p:cNvSpPr>
            <a:spLocks noGrp="1"/>
          </p:cNvSpPr>
          <p:nvPr>
            <p:ph idx="1"/>
          </p:nvPr>
        </p:nvSpPr>
        <p:spPr>
          <a:xfrm>
            <a:off x="838200" y="1329070"/>
            <a:ext cx="10515600" cy="5528930"/>
          </a:xfrm>
        </p:spPr>
        <p:txBody>
          <a:bodyPr>
            <a:normAutofit fontScale="40000" lnSpcReduction="20000"/>
          </a:bodyPr>
          <a:lstStyle/>
          <a:p>
            <a:pPr marL="0" indent="0">
              <a:buNone/>
            </a:pPr>
            <a:endParaRPr lang="en-TZ" b="1" dirty="0"/>
          </a:p>
          <a:p>
            <a:pPr marL="0" indent="0">
              <a:buNone/>
            </a:pPr>
            <a:r>
              <a:rPr lang="en-TZ" sz="5900" dirty="0"/>
              <a:t>Current Situation in Tanzania:</a:t>
            </a:r>
          </a:p>
          <a:p>
            <a:r>
              <a:rPr lang="en-TZ" sz="5900" dirty="0"/>
              <a:t> Over 60,000 patient referrals occur annually between hospitals</a:t>
            </a:r>
          </a:p>
          <a:p>
            <a:pPr marL="0" indent="0">
              <a:buNone/>
            </a:pPr>
            <a:r>
              <a:rPr lang="en-TZ" sz="5900" dirty="0"/>
              <a:t>Patients moved from primary to specialized care facilities</a:t>
            </a:r>
          </a:p>
          <a:p>
            <a:pPr marL="0" indent="0">
              <a:buNone/>
            </a:pPr>
            <a:r>
              <a:rPr lang="en-TZ" sz="5900" dirty="0"/>
              <a:t>Current data exchange relies on:</a:t>
            </a:r>
          </a:p>
          <a:p>
            <a:r>
              <a:rPr lang="en-TZ" sz="5900" dirty="0"/>
              <a:t>   Paper-based records </a:t>
            </a:r>
          </a:p>
          <a:p>
            <a:r>
              <a:rPr lang="en-TZ" sz="5900" dirty="0"/>
              <a:t>  Unencrypted emails </a:t>
            </a:r>
          </a:p>
          <a:p>
            <a:r>
              <a:rPr lang="en-TZ" sz="5900" dirty="0"/>
              <a:t>  Phone calls </a:t>
            </a:r>
          </a:p>
          <a:p>
            <a:r>
              <a:rPr lang="en-TZ" sz="5900" dirty="0"/>
              <a:t>   Fax machines </a:t>
            </a:r>
          </a:p>
          <a:p>
            <a:pPr marL="0" indent="0">
              <a:buNone/>
            </a:pPr>
            <a:r>
              <a:rPr lang="en-TZ" sz="5900" dirty="0"/>
              <a:t>Key Challenges:</a:t>
            </a:r>
          </a:p>
          <a:p>
            <a:r>
              <a:rPr lang="en-TZ" sz="5900" dirty="0"/>
              <a:t>Data breaches and privacy violations</a:t>
            </a:r>
          </a:p>
          <a:p>
            <a:r>
              <a:rPr lang="en-TZ" sz="5900" dirty="0"/>
              <a:t> Lost or illegible patient information</a:t>
            </a:r>
          </a:p>
          <a:p>
            <a:r>
              <a:rPr lang="en-TZ" sz="5900" dirty="0"/>
              <a:t> Delayed treatment due to missing records</a:t>
            </a:r>
          </a:p>
          <a:p>
            <a:r>
              <a:rPr lang="en-TZ" sz="5900" dirty="0"/>
              <a:t> Repeated medical tests (costly and time-consuming)</a:t>
            </a:r>
          </a:p>
          <a:p>
            <a:pPr marL="0" indent="0">
              <a:buNone/>
            </a:pPr>
            <a:endParaRPr lang="en-TZ" sz="5900" dirty="0"/>
          </a:p>
          <a:p>
            <a:pPr marL="0" indent="0">
              <a:buNone/>
            </a:pPr>
            <a:endParaRPr lang="en-TZ" dirty="0"/>
          </a:p>
        </p:txBody>
      </p:sp>
    </p:spTree>
    <p:extLst>
      <p:ext uri="{BB962C8B-B14F-4D97-AF65-F5344CB8AC3E}">
        <p14:creationId xmlns:p14="http://schemas.microsoft.com/office/powerpoint/2010/main" val="2498141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B0D8-8662-9AD5-4E95-4364CD69D1FE}"/>
              </a:ext>
            </a:extLst>
          </p:cNvPr>
          <p:cNvSpPr>
            <a:spLocks noGrp="1"/>
          </p:cNvSpPr>
          <p:nvPr>
            <p:ph type="title"/>
          </p:nvPr>
        </p:nvSpPr>
        <p:spPr>
          <a:xfrm>
            <a:off x="-2324100" y="109699"/>
            <a:ext cx="15853939" cy="1325563"/>
          </a:xfrm>
        </p:spPr>
        <p:txBody>
          <a:bodyPr/>
          <a:lstStyle/>
          <a:p>
            <a:pPr algn="ctr"/>
            <a:r>
              <a:rPr lang="en-US" dirty="0"/>
              <a:t> </a:t>
            </a:r>
            <a:r>
              <a:rPr lang="en-US" b="1" dirty="0">
                <a:latin typeface="Times New Roman" panose="02020603050405020304" pitchFamily="18" charset="0"/>
                <a:cs typeface="Times New Roman" panose="02020603050405020304" pitchFamily="18" charset="0"/>
              </a:rPr>
              <a:t>STATEMENT OF THE PROBLEM</a:t>
            </a:r>
          </a:p>
        </p:txBody>
      </p:sp>
      <p:sp>
        <p:nvSpPr>
          <p:cNvPr id="3" name="Content Placeholder 2">
            <a:extLst>
              <a:ext uri="{FF2B5EF4-FFF2-40B4-BE49-F238E27FC236}">
                <a16:creationId xmlns:a16="http://schemas.microsoft.com/office/drawing/2014/main" id="{437AD13F-E7DA-884A-12E4-1655F13005B4}"/>
              </a:ext>
            </a:extLst>
          </p:cNvPr>
          <p:cNvSpPr>
            <a:spLocks noGrp="1"/>
          </p:cNvSpPr>
          <p:nvPr>
            <p:ph idx="1"/>
          </p:nvPr>
        </p:nvSpPr>
        <p:spPr>
          <a:xfrm>
            <a:off x="838200" y="1435262"/>
            <a:ext cx="10515600" cy="5231756"/>
          </a:xfrm>
        </p:spPr>
        <p:txBody>
          <a:bodyPr>
            <a:normAutofit/>
          </a:bodyPr>
          <a:lstStyle/>
          <a:p>
            <a:pPr marL="0" indent="0">
              <a:buNone/>
            </a:pPr>
            <a:r>
              <a:rPr lang="en-US" dirty="0"/>
              <a:t>In Tanzania, where over 60,000 patient referrals occur annually, the exchange of medical records between hospitals currently relies on insecure and inefficient methods such as paper-based records, unencrypted emails, phone calls, and fax machines. This lack of a standardized, secure system leads to critical challenges, including data breaches, lost or illegible patient information, treatment delays, and unnecessary repeated medical tests, ultimately compromising patient safety and violating data protection laws. This project proposes to address these issues by designing and developing a secure digital exchange system that leverages blockchain technology for tamper-proof audit trails and HL7 FHIR standards for interoperability, ensuring confidential, efficient, and compliant data sharing during inter-hospital patient transfers.</a:t>
            </a:r>
          </a:p>
          <a:p>
            <a:pPr marL="0" indent="0">
              <a:buNone/>
            </a:pPr>
            <a:endParaRPr lang="en-US" dirty="0"/>
          </a:p>
          <a:p>
            <a:endParaRPr lang="en-US" dirty="0"/>
          </a:p>
        </p:txBody>
      </p:sp>
    </p:spTree>
    <p:extLst>
      <p:ext uri="{BB962C8B-B14F-4D97-AF65-F5344CB8AC3E}">
        <p14:creationId xmlns:p14="http://schemas.microsoft.com/office/powerpoint/2010/main" val="4263054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D1173-B14E-4484-BFDF-46FFE9D9682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 OF THE PROJECT</a:t>
            </a:r>
            <a:endParaRPr lang="en-TZ"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A0A7B2-4FFE-4DFB-B4E9-EC8805F5C12D}"/>
              </a:ext>
            </a:extLst>
          </p:cNvPr>
          <p:cNvSpPr>
            <a:spLocks noGrp="1"/>
          </p:cNvSpPr>
          <p:nvPr>
            <p:ph idx="1"/>
          </p:nvPr>
        </p:nvSpPr>
        <p:spPr>
          <a:xfrm>
            <a:off x="838200" y="1520456"/>
            <a:ext cx="10515600" cy="5146157"/>
          </a:xfrm>
        </p:spPr>
        <p:txBody>
          <a:bodyPr>
            <a:normAutofit/>
          </a:bodyPr>
          <a:lstStyle/>
          <a:p>
            <a:pPr marL="0" indent="0">
              <a:buNone/>
            </a:pPr>
            <a:r>
              <a:rPr lang="en-TZ" b="1" dirty="0">
                <a:latin typeface="Times New Roman" panose="02020603050405020304" pitchFamily="18" charset="0"/>
                <a:cs typeface="Times New Roman" panose="02020603050405020304" pitchFamily="18" charset="0"/>
              </a:rPr>
              <a:t>Main Objective </a:t>
            </a:r>
          </a:p>
          <a:p>
            <a:pPr>
              <a:buFont typeface="Wingdings" panose="05000000000000000000" pitchFamily="2" charset="2"/>
              <a:buChar char="Ø"/>
            </a:pPr>
            <a:r>
              <a:rPr lang="en-TZ" dirty="0"/>
              <a:t>To design, develop, and evaluate a secure digital exchange system for inter-hospital patient transfer that ensures:</a:t>
            </a:r>
          </a:p>
          <a:p>
            <a:r>
              <a:rPr lang="en-TZ" dirty="0"/>
              <a:t>Data integrity (tamper-proof records)</a:t>
            </a:r>
          </a:p>
          <a:p>
            <a:r>
              <a:rPr lang="en-TZ" dirty="0"/>
              <a:t> Confidentiality (encrypted transmission)</a:t>
            </a:r>
          </a:p>
          <a:p>
            <a:r>
              <a:rPr lang="en-TZ" dirty="0"/>
              <a:t> Interoperability (different hospitals can communicate)</a:t>
            </a:r>
          </a:p>
          <a:p>
            <a:r>
              <a:rPr lang="en-TZ" dirty="0"/>
              <a:t> Auditable consent (track who approved what)</a:t>
            </a:r>
          </a:p>
          <a:p>
            <a:pPr marL="0" indent="0">
              <a:buNone/>
            </a:pPr>
            <a:endParaRPr lang="en-TZ" dirty="0"/>
          </a:p>
        </p:txBody>
      </p:sp>
    </p:spTree>
    <p:extLst>
      <p:ext uri="{BB962C8B-B14F-4D97-AF65-F5344CB8AC3E}">
        <p14:creationId xmlns:p14="http://schemas.microsoft.com/office/powerpoint/2010/main" val="1799777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4B801-93CB-407A-B726-A387B4205BB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SPECIFIC OBJECTIVES.</a:t>
            </a:r>
            <a:endParaRPr lang="en-TZ"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1520C9-711C-435D-B031-26F74D02F8BC}"/>
              </a:ext>
            </a:extLst>
          </p:cNvPr>
          <p:cNvSpPr>
            <a:spLocks noGrp="1"/>
          </p:cNvSpPr>
          <p:nvPr>
            <p:ph idx="1"/>
          </p:nvPr>
        </p:nvSpPr>
        <p:spPr>
          <a:xfrm>
            <a:off x="838200" y="1382233"/>
            <a:ext cx="10515600" cy="5110642"/>
          </a:xfrm>
        </p:spPr>
        <p:txBody>
          <a:bodyPr/>
          <a:lstStyle/>
          <a:p>
            <a:pPr marL="0" indent="0">
              <a:buNone/>
            </a:pPr>
            <a:r>
              <a:rPr lang="en-TZ" dirty="0"/>
              <a:t>1. </a:t>
            </a:r>
            <a:r>
              <a:rPr lang="en-TZ" dirty="0" err="1"/>
              <a:t>Analyze</a:t>
            </a:r>
            <a:r>
              <a:rPr lang="en-TZ" dirty="0"/>
              <a:t> existing challenges and technologies for secure health data exchange</a:t>
            </a:r>
          </a:p>
          <a:p>
            <a:pPr marL="0" indent="0">
              <a:buNone/>
            </a:pPr>
            <a:r>
              <a:rPr lang="en-TZ" dirty="0"/>
              <a:t>2. Design a system architecture using blockchain and HL7 FHIR standards</a:t>
            </a:r>
          </a:p>
          <a:p>
            <a:pPr marL="0" indent="0">
              <a:buNone/>
            </a:pPr>
            <a:r>
              <a:rPr lang="en-TZ" dirty="0"/>
              <a:t>3. Implement a working prototype</a:t>
            </a:r>
          </a:p>
          <a:p>
            <a:pPr marL="0" indent="0">
              <a:buNone/>
            </a:pPr>
            <a:r>
              <a:rPr lang="en-TZ" dirty="0"/>
              <a:t>4. Evaluate security, performance, and usability</a:t>
            </a:r>
          </a:p>
          <a:p>
            <a:pPr marL="0" indent="0">
              <a:buNone/>
            </a:pPr>
            <a:endParaRPr lang="en-TZ" dirty="0"/>
          </a:p>
        </p:txBody>
      </p:sp>
    </p:spTree>
    <p:extLst>
      <p:ext uri="{BB962C8B-B14F-4D97-AF65-F5344CB8AC3E}">
        <p14:creationId xmlns:p14="http://schemas.microsoft.com/office/powerpoint/2010/main" val="2496492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56B63-AB9F-B0B4-1011-2487C13A2EB3}"/>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E8B99AFE-0362-A08B-0C64-264CB31F2871}"/>
              </a:ext>
            </a:extLst>
          </p:cNvPr>
          <p:cNvSpPr>
            <a:spLocks noGrp="1"/>
          </p:cNvSpPr>
          <p:nvPr>
            <p:ph idx="1"/>
          </p:nvPr>
        </p:nvSpPr>
        <p:spPr>
          <a:xfrm>
            <a:off x="838200" y="1690688"/>
            <a:ext cx="10515600" cy="4802187"/>
          </a:xfrm>
        </p:spPr>
        <p:txBody>
          <a:bodyPr>
            <a:normAutofit/>
          </a:bodyPr>
          <a:lstStyle/>
          <a:p>
            <a:r>
              <a:rPr lang="en-US" dirty="0"/>
              <a:t>Research Approach: This project will employ Design Science Research (DSR) to create and evaluate a secure digital exchange system as a practical solution to real-world inter-hospital data sharing challenges. The DSR process will guide the project through phases of problem identification, objective definition, artifact design and development, demonstration in a simulated environment, and rigorous evaluation to ensure the system effectively addresses security, interoperability, and usability requirements.</a:t>
            </a:r>
          </a:p>
          <a:p>
            <a:pPr marL="0" indent="0">
              <a:buNone/>
            </a:pPr>
            <a:r>
              <a:rPr lang="en-US" dirty="0"/>
              <a:t> </a:t>
            </a:r>
          </a:p>
          <a:p>
            <a:endParaRPr lang="en-US" dirty="0"/>
          </a:p>
        </p:txBody>
      </p:sp>
    </p:spTree>
    <p:extLst>
      <p:ext uri="{BB962C8B-B14F-4D97-AF65-F5344CB8AC3E}">
        <p14:creationId xmlns:p14="http://schemas.microsoft.com/office/powerpoint/2010/main" val="3658199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28E00-4A9A-FCB6-AEC6-480FE8CEDBAE}"/>
              </a:ext>
            </a:extLst>
          </p:cNvPr>
          <p:cNvSpPr>
            <a:spLocks noGrp="1"/>
          </p:cNvSpPr>
          <p:nvPr>
            <p:ph type="title"/>
          </p:nvPr>
        </p:nvSpPr>
        <p:spPr/>
        <p:txBody>
          <a:bodyPr/>
          <a:lstStyle/>
          <a:p>
            <a:r>
              <a:rPr lang="en-US" dirty="0"/>
              <a:t>METHODOLOGY CONT’</a:t>
            </a:r>
          </a:p>
        </p:txBody>
      </p:sp>
      <p:sp>
        <p:nvSpPr>
          <p:cNvPr id="3" name="Content Placeholder 2">
            <a:extLst>
              <a:ext uri="{FF2B5EF4-FFF2-40B4-BE49-F238E27FC236}">
                <a16:creationId xmlns:a16="http://schemas.microsoft.com/office/drawing/2014/main" id="{779DFEB2-C77B-F5DA-620F-84795676CE28}"/>
              </a:ext>
            </a:extLst>
          </p:cNvPr>
          <p:cNvSpPr>
            <a:spLocks noGrp="1"/>
          </p:cNvSpPr>
          <p:nvPr>
            <p:ph idx="1"/>
          </p:nvPr>
        </p:nvSpPr>
        <p:spPr>
          <a:xfrm>
            <a:off x="838200" y="1524000"/>
            <a:ext cx="10515600" cy="5334000"/>
          </a:xfrm>
        </p:spPr>
        <p:txBody>
          <a:bodyPr/>
          <a:lstStyle/>
          <a:p>
            <a:r>
              <a:rPr lang="en-US" dirty="0"/>
              <a:t>Development Methodology: The system will be built using an Agile methodology with two-week sprints, allowing for iterative development and continuous refinement. The process will involve requirement analysis and system design, followed by prototype implementation using Python/Flask, React PWA, and Hyperledger Fabric. The final phases include integration testing in a simulated hospital environment with synthetic data, and comprehensive evaluation of security, performance, and usability to refine the prototype before completion.</a:t>
            </a:r>
          </a:p>
          <a:p>
            <a:endParaRPr lang="en-US" dirty="0"/>
          </a:p>
        </p:txBody>
      </p:sp>
    </p:spTree>
    <p:extLst>
      <p:ext uri="{BB962C8B-B14F-4D97-AF65-F5344CB8AC3E}">
        <p14:creationId xmlns:p14="http://schemas.microsoft.com/office/powerpoint/2010/main" val="435336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4951A-A85D-4323-A8E0-24D1B40D97FD}"/>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EXPECTED OUT COMES OF THE PROJECT</a:t>
            </a: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76B890-D283-4A18-B325-A787B58477E3}"/>
              </a:ext>
            </a:extLst>
          </p:cNvPr>
          <p:cNvSpPr>
            <a:spLocks noGrp="1"/>
          </p:cNvSpPr>
          <p:nvPr>
            <p:ph idx="1"/>
          </p:nvPr>
        </p:nvSpPr>
        <p:spPr>
          <a:xfrm>
            <a:off x="1337930" y="1548848"/>
            <a:ext cx="10515600" cy="4944027"/>
          </a:xfrm>
        </p:spPr>
        <p:txBody>
          <a:bodyPr>
            <a:normAutofit/>
          </a:bodyPr>
          <a:lstStyle/>
          <a:p>
            <a:pPr marL="0" indent="0">
              <a:buNone/>
            </a:pPr>
            <a:r>
              <a:rPr lang="en-US" dirty="0"/>
              <a:t>WHAT WILL DERIEVE</a:t>
            </a:r>
          </a:p>
          <a:p>
            <a:r>
              <a:rPr lang="en-TZ" dirty="0"/>
              <a:t> Working Prototype of secure exchange system</a:t>
            </a:r>
          </a:p>
          <a:p>
            <a:r>
              <a:rPr lang="en-TZ" dirty="0"/>
              <a:t> Blockchain-based consent management with tamper-proof audit logs</a:t>
            </a:r>
          </a:p>
          <a:p>
            <a:r>
              <a:rPr lang="en-TZ" dirty="0"/>
              <a:t> FHIR-compliant data exchange between different hospital systems</a:t>
            </a:r>
          </a:p>
          <a:p>
            <a:r>
              <a:rPr lang="en-TZ" dirty="0"/>
              <a:t> Offline-capable PWA for low-connectivity environments</a:t>
            </a:r>
          </a:p>
          <a:p>
            <a:r>
              <a:rPr lang="en-TZ" dirty="0"/>
              <a:t> Security testing results demonstrating protection against common attacks</a:t>
            </a:r>
          </a:p>
          <a:p>
            <a:r>
              <a:rPr lang="en-TZ" dirty="0"/>
              <a:t> Usability evaluation with clinicians</a:t>
            </a:r>
          </a:p>
          <a:p>
            <a:r>
              <a:rPr lang="en-TZ" dirty="0"/>
              <a:t> Open-source code for replication in other settings</a:t>
            </a:r>
          </a:p>
          <a:p>
            <a:endParaRPr lang="en-TZ" dirty="0"/>
          </a:p>
        </p:txBody>
      </p:sp>
    </p:spTree>
    <p:extLst>
      <p:ext uri="{BB962C8B-B14F-4D97-AF65-F5344CB8AC3E}">
        <p14:creationId xmlns:p14="http://schemas.microsoft.com/office/powerpoint/2010/main" val="1642327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583C-AD34-4351-89E4-807A8DAB79ED}"/>
              </a:ext>
            </a:extLst>
          </p:cNvPr>
          <p:cNvSpPr>
            <a:spLocks noGrp="1"/>
          </p:cNvSpPr>
          <p:nvPr>
            <p:ph type="title"/>
          </p:nvPr>
        </p:nvSpPr>
        <p:spPr/>
        <p:txBody>
          <a:bodyPr/>
          <a:lstStyle/>
          <a:p>
            <a:r>
              <a:rPr lang="en-TZ" b="1" dirty="0">
                <a:latin typeface="Times New Roman" panose="02020603050405020304" pitchFamily="18" charset="0"/>
                <a:cs typeface="Times New Roman" panose="02020603050405020304" pitchFamily="18" charset="0"/>
              </a:rPr>
              <a:t>Expected Impact</a:t>
            </a:r>
            <a:br>
              <a:rPr lang="en-TZ" b="1" dirty="0">
                <a:latin typeface="Times New Roman" panose="02020603050405020304" pitchFamily="18" charset="0"/>
                <a:cs typeface="Times New Roman" panose="02020603050405020304" pitchFamily="18" charset="0"/>
              </a:rPr>
            </a:br>
            <a:endParaRPr lang="en-TZ" dirty="0"/>
          </a:p>
        </p:txBody>
      </p:sp>
      <p:sp>
        <p:nvSpPr>
          <p:cNvPr id="3" name="Content Placeholder 2">
            <a:extLst>
              <a:ext uri="{FF2B5EF4-FFF2-40B4-BE49-F238E27FC236}">
                <a16:creationId xmlns:a16="http://schemas.microsoft.com/office/drawing/2014/main" id="{404EBB81-1760-4448-84FF-17A63EF66DFA}"/>
              </a:ext>
            </a:extLst>
          </p:cNvPr>
          <p:cNvSpPr>
            <a:spLocks noGrp="1"/>
          </p:cNvSpPr>
          <p:nvPr>
            <p:ph idx="1"/>
          </p:nvPr>
        </p:nvSpPr>
        <p:spPr>
          <a:xfrm>
            <a:off x="838200" y="1041991"/>
            <a:ext cx="10515600" cy="5528930"/>
          </a:xfrm>
        </p:spPr>
        <p:txBody>
          <a:bodyPr/>
          <a:lstStyle/>
          <a:p>
            <a:pPr marL="0" indent="0">
              <a:buNone/>
            </a:pPr>
            <a:endParaRPr lang="en-TZ" dirty="0"/>
          </a:p>
          <a:p>
            <a:r>
              <a:rPr lang="en-TZ" dirty="0"/>
              <a:t>Faster patient transfers (reduced data retrieval time)</a:t>
            </a:r>
          </a:p>
          <a:p>
            <a:r>
              <a:rPr lang="en-TZ" dirty="0"/>
              <a:t> Fewer medical errors (complete information available)</a:t>
            </a:r>
          </a:p>
          <a:p>
            <a:r>
              <a:rPr lang="en-TZ" dirty="0"/>
              <a:t> Legal compliance with Tanzania's Data Protection Act</a:t>
            </a:r>
          </a:p>
          <a:p>
            <a:r>
              <a:rPr lang="en-TZ" dirty="0"/>
              <a:t> Blueprint for national Health Information Exchange</a:t>
            </a:r>
          </a:p>
          <a:p>
            <a:endParaRPr lang="en-TZ" dirty="0"/>
          </a:p>
        </p:txBody>
      </p:sp>
    </p:spTree>
    <p:extLst>
      <p:ext uri="{BB962C8B-B14F-4D97-AF65-F5344CB8AC3E}">
        <p14:creationId xmlns:p14="http://schemas.microsoft.com/office/powerpoint/2010/main" val="3033585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702BE-DECA-4FB7-8394-EC1622425B78}"/>
              </a:ext>
            </a:extLst>
          </p:cNvPr>
          <p:cNvSpPr>
            <a:spLocks noGrp="1"/>
          </p:cNvSpPr>
          <p:nvPr>
            <p:ph type="title"/>
          </p:nvPr>
        </p:nvSpPr>
        <p:spPr/>
        <p:txBody>
          <a:bodyPr/>
          <a:lstStyle/>
          <a:p>
            <a:r>
              <a:rPr lang="en-US" dirty="0"/>
              <a:t>PROPOSAL TIME FRAME</a:t>
            </a:r>
            <a:endParaRPr lang="en-TZ" dirty="0"/>
          </a:p>
        </p:txBody>
      </p:sp>
      <p:graphicFrame>
        <p:nvGraphicFramePr>
          <p:cNvPr id="4" name="Content Placeholder 3">
            <a:extLst>
              <a:ext uri="{FF2B5EF4-FFF2-40B4-BE49-F238E27FC236}">
                <a16:creationId xmlns:a16="http://schemas.microsoft.com/office/drawing/2014/main" id="{C4679B27-3529-4479-98B6-A36C357F6236}"/>
              </a:ext>
            </a:extLst>
          </p:cNvPr>
          <p:cNvGraphicFramePr>
            <a:graphicFrameLocks noGrp="1"/>
          </p:cNvGraphicFramePr>
          <p:nvPr>
            <p:ph idx="1"/>
            <p:extLst>
              <p:ext uri="{D42A27DB-BD31-4B8C-83A1-F6EECF244321}">
                <p14:modId xmlns:p14="http://schemas.microsoft.com/office/powerpoint/2010/main" val="1481336811"/>
              </p:ext>
            </p:extLst>
          </p:nvPr>
        </p:nvGraphicFramePr>
        <p:xfrm>
          <a:off x="21265" y="1392866"/>
          <a:ext cx="12170735" cy="5799148"/>
        </p:xfrm>
        <a:graphic>
          <a:graphicData uri="http://schemas.openxmlformats.org/drawingml/2006/table">
            <a:tbl>
              <a:tblPr firstRow="1" bandRow="1">
                <a:tableStyleId>{5C22544A-7EE6-4342-B048-85BDC9FD1C3A}</a:tableStyleId>
              </a:tblPr>
              <a:tblGrid>
                <a:gridCol w="6662548">
                  <a:extLst>
                    <a:ext uri="{9D8B030D-6E8A-4147-A177-3AD203B41FA5}">
                      <a16:colId xmlns:a16="http://schemas.microsoft.com/office/drawing/2014/main" val="3959817438"/>
                    </a:ext>
                  </a:extLst>
                </a:gridCol>
                <a:gridCol w="1393489">
                  <a:extLst>
                    <a:ext uri="{9D8B030D-6E8A-4147-A177-3AD203B41FA5}">
                      <a16:colId xmlns:a16="http://schemas.microsoft.com/office/drawing/2014/main" val="3029057736"/>
                    </a:ext>
                  </a:extLst>
                </a:gridCol>
                <a:gridCol w="1220845">
                  <a:extLst>
                    <a:ext uri="{9D8B030D-6E8A-4147-A177-3AD203B41FA5}">
                      <a16:colId xmlns:a16="http://schemas.microsoft.com/office/drawing/2014/main" val="726500857"/>
                    </a:ext>
                  </a:extLst>
                </a:gridCol>
                <a:gridCol w="949546">
                  <a:extLst>
                    <a:ext uri="{9D8B030D-6E8A-4147-A177-3AD203B41FA5}">
                      <a16:colId xmlns:a16="http://schemas.microsoft.com/office/drawing/2014/main" val="1442398665"/>
                    </a:ext>
                  </a:extLst>
                </a:gridCol>
                <a:gridCol w="986540">
                  <a:extLst>
                    <a:ext uri="{9D8B030D-6E8A-4147-A177-3AD203B41FA5}">
                      <a16:colId xmlns:a16="http://schemas.microsoft.com/office/drawing/2014/main" val="158046101"/>
                    </a:ext>
                  </a:extLst>
                </a:gridCol>
                <a:gridCol w="957767">
                  <a:extLst>
                    <a:ext uri="{9D8B030D-6E8A-4147-A177-3AD203B41FA5}">
                      <a16:colId xmlns:a16="http://schemas.microsoft.com/office/drawing/2014/main" val="78321090"/>
                    </a:ext>
                  </a:extLst>
                </a:gridCol>
              </a:tblGrid>
              <a:tr h="387601">
                <a:tc>
                  <a:txBody>
                    <a:bodyPr/>
                    <a:lstStyle/>
                    <a:p>
                      <a:pPr algn="ctr"/>
                      <a:r>
                        <a:rPr lang="en-US" dirty="0"/>
                        <a:t>ACTIVITY</a:t>
                      </a:r>
                      <a:endParaRPr lang="en-TZ" dirty="0"/>
                    </a:p>
                  </a:txBody>
                  <a:tcPr/>
                </a:tc>
                <a:tc>
                  <a:txBody>
                    <a:bodyPr/>
                    <a:lstStyle/>
                    <a:p>
                      <a:pPr algn="ctr"/>
                      <a:r>
                        <a:rPr lang="en-US" dirty="0"/>
                        <a:t>FEBRUARY</a:t>
                      </a:r>
                      <a:endParaRPr lang="en-TZ" dirty="0"/>
                    </a:p>
                  </a:txBody>
                  <a:tcPr/>
                </a:tc>
                <a:tc>
                  <a:txBody>
                    <a:bodyPr/>
                    <a:lstStyle/>
                    <a:p>
                      <a:pPr algn="ctr"/>
                      <a:r>
                        <a:rPr lang="en-US" dirty="0"/>
                        <a:t>MARCH</a:t>
                      </a:r>
                      <a:endParaRPr lang="en-TZ" dirty="0"/>
                    </a:p>
                  </a:txBody>
                  <a:tcPr/>
                </a:tc>
                <a:tc>
                  <a:txBody>
                    <a:bodyPr/>
                    <a:lstStyle/>
                    <a:p>
                      <a:pPr algn="ctr"/>
                      <a:r>
                        <a:rPr lang="en-US" dirty="0"/>
                        <a:t>APRIL</a:t>
                      </a:r>
                      <a:endParaRPr lang="en-TZ" dirty="0"/>
                    </a:p>
                  </a:txBody>
                  <a:tcPr/>
                </a:tc>
                <a:tc>
                  <a:txBody>
                    <a:bodyPr/>
                    <a:lstStyle/>
                    <a:p>
                      <a:pPr algn="ctr"/>
                      <a:r>
                        <a:rPr lang="en-US" dirty="0"/>
                        <a:t>MAY</a:t>
                      </a:r>
                      <a:endParaRPr lang="en-TZ" dirty="0"/>
                    </a:p>
                  </a:txBody>
                  <a:tcPr/>
                </a:tc>
                <a:tc>
                  <a:txBody>
                    <a:bodyPr/>
                    <a:lstStyle/>
                    <a:p>
                      <a:pPr algn="ctr"/>
                      <a:r>
                        <a:rPr lang="en-US" dirty="0"/>
                        <a:t>JUNE</a:t>
                      </a:r>
                      <a:endParaRPr lang="en-TZ" dirty="0"/>
                    </a:p>
                  </a:txBody>
                  <a:tcPr/>
                </a:tc>
                <a:extLst>
                  <a:ext uri="{0D108BD9-81ED-4DB2-BD59-A6C34878D82A}">
                    <a16:rowId xmlns:a16="http://schemas.microsoft.com/office/drawing/2014/main" val="367964263"/>
                  </a:ext>
                </a:extLst>
              </a:tr>
              <a:tr h="479657">
                <a:tc>
                  <a:txBody>
                    <a:bodyPr/>
                    <a:lstStyle/>
                    <a:p>
                      <a:pPr algn="just">
                        <a:lnSpc>
                          <a:spcPct val="150000"/>
                        </a:lnSpc>
                        <a:spcBef>
                          <a:spcPts val="500"/>
                        </a:spcBef>
                        <a:spcAft>
                          <a:spcPts val="10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Literature review</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a:tc>
                <a:tc>
                  <a:txBody>
                    <a:bodyPr/>
                    <a:lstStyle/>
                    <a:p>
                      <a:r>
                        <a:rPr lang="en-US" dirty="0"/>
                        <a:t>X</a:t>
                      </a:r>
                      <a:endParaRPr lang="en-TZ" dirty="0"/>
                    </a:p>
                  </a:txBody>
                  <a:tcPr/>
                </a:tc>
                <a:tc>
                  <a:txBody>
                    <a:bodyPr/>
                    <a:lstStyle/>
                    <a:p>
                      <a:endParaRPr lang="en-TZ"/>
                    </a:p>
                  </a:txBody>
                  <a:tcPr/>
                </a:tc>
                <a:tc>
                  <a:txBody>
                    <a:bodyPr/>
                    <a:lstStyle/>
                    <a:p>
                      <a:endParaRPr lang="en-TZ" dirty="0"/>
                    </a:p>
                  </a:txBody>
                  <a:tcPr/>
                </a:tc>
                <a:tc>
                  <a:txBody>
                    <a:bodyPr/>
                    <a:lstStyle/>
                    <a:p>
                      <a:endParaRPr lang="en-TZ"/>
                    </a:p>
                  </a:txBody>
                  <a:tcPr/>
                </a:tc>
                <a:tc>
                  <a:txBody>
                    <a:bodyPr/>
                    <a:lstStyle/>
                    <a:p>
                      <a:endParaRPr lang="en-TZ"/>
                    </a:p>
                  </a:txBody>
                  <a:tcPr/>
                </a:tc>
                <a:extLst>
                  <a:ext uri="{0D108BD9-81ED-4DB2-BD59-A6C34878D82A}">
                    <a16:rowId xmlns:a16="http://schemas.microsoft.com/office/drawing/2014/main" val="4010483977"/>
                  </a:ext>
                </a:extLst>
              </a:tr>
              <a:tr h="66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Requirement Gathering</a:t>
                      </a:r>
                    </a:p>
                    <a:p>
                      <a:endParaRPr lang="en-TZ" dirty="0"/>
                    </a:p>
                  </a:txBody>
                  <a:tcPr/>
                </a:tc>
                <a:tc>
                  <a:txBody>
                    <a:bodyPr/>
                    <a:lstStyle/>
                    <a:p>
                      <a:r>
                        <a:rPr lang="en-US" dirty="0"/>
                        <a:t>X</a:t>
                      </a:r>
                      <a:endParaRPr lang="en-TZ" dirty="0"/>
                    </a:p>
                  </a:txBody>
                  <a:tcPr/>
                </a:tc>
                <a:tc>
                  <a:txBody>
                    <a:bodyPr/>
                    <a:lstStyle/>
                    <a:p>
                      <a:r>
                        <a:rPr lang="en-US" dirty="0"/>
                        <a:t>X</a:t>
                      </a:r>
                      <a:endParaRPr lang="en-TZ" dirty="0"/>
                    </a:p>
                  </a:txBody>
                  <a:tcPr/>
                </a:tc>
                <a:tc>
                  <a:txBody>
                    <a:bodyPr/>
                    <a:lstStyle/>
                    <a:p>
                      <a:endParaRPr lang="en-TZ"/>
                    </a:p>
                  </a:txBody>
                  <a:tcPr/>
                </a:tc>
                <a:tc>
                  <a:txBody>
                    <a:bodyPr/>
                    <a:lstStyle/>
                    <a:p>
                      <a:endParaRPr lang="en-TZ"/>
                    </a:p>
                  </a:txBody>
                  <a:tcPr/>
                </a:tc>
                <a:tc>
                  <a:txBody>
                    <a:bodyPr/>
                    <a:lstStyle/>
                    <a:p>
                      <a:endParaRPr lang="en-TZ"/>
                    </a:p>
                  </a:txBody>
                  <a:tcPr/>
                </a:tc>
                <a:extLst>
                  <a:ext uri="{0D108BD9-81ED-4DB2-BD59-A6C34878D82A}">
                    <a16:rowId xmlns:a16="http://schemas.microsoft.com/office/drawing/2014/main" val="2537651483"/>
                  </a:ext>
                </a:extLst>
              </a:tr>
              <a:tr h="66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System design</a:t>
                      </a:r>
                    </a:p>
                    <a:p>
                      <a:endParaRPr lang="en-TZ" dirty="0"/>
                    </a:p>
                  </a:txBody>
                  <a:tcPr/>
                </a:tc>
                <a:tc>
                  <a:txBody>
                    <a:bodyPr/>
                    <a:lstStyle/>
                    <a:p>
                      <a:endParaRPr lang="en-TZ"/>
                    </a:p>
                  </a:txBody>
                  <a:tcPr/>
                </a:tc>
                <a:tc>
                  <a:txBody>
                    <a:bodyPr/>
                    <a:lstStyle/>
                    <a:p>
                      <a:r>
                        <a:rPr lang="en-US" dirty="0"/>
                        <a:t>X</a:t>
                      </a:r>
                      <a:endParaRPr lang="en-TZ" dirty="0"/>
                    </a:p>
                  </a:txBody>
                  <a:tcPr/>
                </a:tc>
                <a:tc>
                  <a:txBody>
                    <a:bodyPr/>
                    <a:lstStyle/>
                    <a:p>
                      <a:r>
                        <a:rPr lang="en-US" dirty="0"/>
                        <a:t>X</a:t>
                      </a:r>
                      <a:endParaRPr lang="en-TZ" dirty="0"/>
                    </a:p>
                  </a:txBody>
                  <a:tcPr/>
                </a:tc>
                <a:tc>
                  <a:txBody>
                    <a:bodyPr/>
                    <a:lstStyle/>
                    <a:p>
                      <a:endParaRPr lang="en-TZ"/>
                    </a:p>
                  </a:txBody>
                  <a:tcPr/>
                </a:tc>
                <a:tc>
                  <a:txBody>
                    <a:bodyPr/>
                    <a:lstStyle/>
                    <a:p>
                      <a:endParaRPr lang="en-TZ"/>
                    </a:p>
                  </a:txBody>
                  <a:tcPr/>
                </a:tc>
                <a:extLst>
                  <a:ext uri="{0D108BD9-81ED-4DB2-BD59-A6C34878D82A}">
                    <a16:rowId xmlns:a16="http://schemas.microsoft.com/office/drawing/2014/main" val="3284199241"/>
                  </a:ext>
                </a:extLst>
              </a:tr>
              <a:tr h="387601">
                <a:tc>
                  <a:txBody>
                    <a:bodyPr/>
                    <a:lstStyle/>
                    <a:p>
                      <a:pPr algn="just">
                        <a:lnSpc>
                          <a:spcPct val="150000"/>
                        </a:lnSpc>
                        <a:spcBef>
                          <a:spcPts val="500"/>
                        </a:spcBef>
                        <a:spcAft>
                          <a:spcPts val="10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Block chain Network set up</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a:tc>
                <a:tc>
                  <a:txBody>
                    <a:bodyPr/>
                    <a:lstStyle/>
                    <a:p>
                      <a:endParaRPr lang="en-TZ"/>
                    </a:p>
                  </a:txBody>
                  <a:tcPr/>
                </a:tc>
                <a:tc>
                  <a:txBody>
                    <a:bodyPr/>
                    <a:lstStyle/>
                    <a:p>
                      <a:r>
                        <a:rPr lang="en-US" dirty="0"/>
                        <a:t>X</a:t>
                      </a:r>
                      <a:endParaRPr lang="en-TZ" dirty="0"/>
                    </a:p>
                  </a:txBody>
                  <a:tcPr/>
                </a:tc>
                <a:tc>
                  <a:txBody>
                    <a:bodyPr/>
                    <a:lstStyle/>
                    <a:p>
                      <a:r>
                        <a:rPr lang="en-US" dirty="0"/>
                        <a:t>X</a:t>
                      </a:r>
                      <a:endParaRPr lang="en-TZ" dirty="0"/>
                    </a:p>
                  </a:txBody>
                  <a:tcPr/>
                </a:tc>
                <a:tc>
                  <a:txBody>
                    <a:bodyPr/>
                    <a:lstStyle/>
                    <a:p>
                      <a:endParaRPr lang="en-TZ"/>
                    </a:p>
                  </a:txBody>
                  <a:tcPr/>
                </a:tc>
                <a:tc>
                  <a:txBody>
                    <a:bodyPr/>
                    <a:lstStyle/>
                    <a:p>
                      <a:endParaRPr lang="en-TZ"/>
                    </a:p>
                  </a:txBody>
                  <a:tcPr/>
                </a:tc>
                <a:extLst>
                  <a:ext uri="{0D108BD9-81ED-4DB2-BD59-A6C34878D82A}">
                    <a16:rowId xmlns:a16="http://schemas.microsoft.com/office/drawing/2014/main" val="2505172373"/>
                  </a:ext>
                </a:extLst>
              </a:tr>
              <a:tr h="387601">
                <a:tc>
                  <a:txBody>
                    <a:bodyPr/>
                    <a:lstStyle/>
                    <a:p>
                      <a:pPr algn="just">
                        <a:lnSpc>
                          <a:spcPct val="150000"/>
                        </a:lnSpc>
                        <a:spcBef>
                          <a:spcPts val="500"/>
                        </a:spcBef>
                        <a:spcAft>
                          <a:spcPts val="10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FHIR API Development</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a:tc>
                <a:tc>
                  <a:txBody>
                    <a:bodyPr/>
                    <a:lstStyle/>
                    <a:p>
                      <a:endParaRPr lang="en-TZ"/>
                    </a:p>
                  </a:txBody>
                  <a:tcPr/>
                </a:tc>
                <a:tc>
                  <a:txBody>
                    <a:bodyPr/>
                    <a:lstStyle/>
                    <a:p>
                      <a:endParaRPr lang="en-TZ"/>
                    </a:p>
                  </a:txBody>
                  <a:tcPr/>
                </a:tc>
                <a:tc>
                  <a:txBody>
                    <a:bodyPr/>
                    <a:lstStyle/>
                    <a:p>
                      <a:r>
                        <a:rPr lang="en-US" dirty="0"/>
                        <a:t>X</a:t>
                      </a:r>
                      <a:endParaRPr lang="en-TZ" dirty="0"/>
                    </a:p>
                  </a:txBody>
                  <a:tcPr/>
                </a:tc>
                <a:tc>
                  <a:txBody>
                    <a:bodyPr/>
                    <a:lstStyle/>
                    <a:p>
                      <a:r>
                        <a:rPr lang="en-US" dirty="0"/>
                        <a:t>X</a:t>
                      </a:r>
                      <a:endParaRPr lang="en-TZ" dirty="0"/>
                    </a:p>
                  </a:txBody>
                  <a:tcPr/>
                </a:tc>
                <a:tc>
                  <a:txBody>
                    <a:bodyPr/>
                    <a:lstStyle/>
                    <a:p>
                      <a:endParaRPr lang="en-TZ"/>
                    </a:p>
                  </a:txBody>
                  <a:tcPr/>
                </a:tc>
                <a:extLst>
                  <a:ext uri="{0D108BD9-81ED-4DB2-BD59-A6C34878D82A}">
                    <a16:rowId xmlns:a16="http://schemas.microsoft.com/office/drawing/2014/main" val="4058399843"/>
                  </a:ext>
                </a:extLst>
              </a:tr>
              <a:tr h="66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PWA Fronted Development</a:t>
                      </a:r>
                    </a:p>
                    <a:p>
                      <a:endParaRPr lang="en-TZ" dirty="0">
                        <a:latin typeface="Times New Roman" panose="02020603050405020304" pitchFamily="18" charset="0"/>
                        <a:cs typeface="Times New Roman" panose="02020603050405020304" pitchFamily="18" charset="0"/>
                      </a:endParaRPr>
                    </a:p>
                  </a:txBody>
                  <a:tcPr/>
                </a:tc>
                <a:tc>
                  <a:txBody>
                    <a:bodyPr/>
                    <a:lstStyle/>
                    <a:p>
                      <a:endParaRPr lang="en-TZ"/>
                    </a:p>
                  </a:txBody>
                  <a:tcPr/>
                </a:tc>
                <a:tc>
                  <a:txBody>
                    <a:bodyPr/>
                    <a:lstStyle/>
                    <a:p>
                      <a:endParaRPr lang="en-TZ"/>
                    </a:p>
                  </a:txBody>
                  <a:tcPr/>
                </a:tc>
                <a:tc>
                  <a:txBody>
                    <a:bodyPr/>
                    <a:lstStyle/>
                    <a:p>
                      <a:r>
                        <a:rPr lang="en-US" dirty="0"/>
                        <a:t>X</a:t>
                      </a:r>
                      <a:endParaRPr lang="en-TZ" dirty="0"/>
                    </a:p>
                  </a:txBody>
                  <a:tcPr/>
                </a:tc>
                <a:tc>
                  <a:txBody>
                    <a:bodyPr/>
                    <a:lstStyle/>
                    <a:p>
                      <a:r>
                        <a:rPr lang="en-US" dirty="0"/>
                        <a:t>X</a:t>
                      </a:r>
                      <a:endParaRPr lang="en-TZ" dirty="0"/>
                    </a:p>
                  </a:txBody>
                  <a:tcPr/>
                </a:tc>
                <a:tc>
                  <a:txBody>
                    <a:bodyPr/>
                    <a:lstStyle/>
                    <a:p>
                      <a:endParaRPr lang="en-TZ"/>
                    </a:p>
                  </a:txBody>
                  <a:tcPr/>
                </a:tc>
                <a:extLst>
                  <a:ext uri="{0D108BD9-81ED-4DB2-BD59-A6C34878D82A}">
                    <a16:rowId xmlns:a16="http://schemas.microsoft.com/office/drawing/2014/main" val="1421065957"/>
                  </a:ext>
                </a:extLst>
              </a:tr>
              <a:tr h="66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Integration and Testing</a:t>
                      </a:r>
                    </a:p>
                    <a:p>
                      <a:endParaRPr lang="en-TZ" dirty="0">
                        <a:latin typeface="Times New Roman" panose="02020603050405020304" pitchFamily="18" charset="0"/>
                        <a:cs typeface="Times New Roman" panose="02020603050405020304" pitchFamily="18" charset="0"/>
                      </a:endParaRPr>
                    </a:p>
                  </a:txBody>
                  <a:tcPr/>
                </a:tc>
                <a:tc>
                  <a:txBody>
                    <a:bodyPr/>
                    <a:lstStyle/>
                    <a:p>
                      <a:endParaRPr lang="en-TZ"/>
                    </a:p>
                  </a:txBody>
                  <a:tcPr/>
                </a:tc>
                <a:tc>
                  <a:txBody>
                    <a:bodyPr/>
                    <a:lstStyle/>
                    <a:p>
                      <a:endParaRPr lang="en-TZ"/>
                    </a:p>
                  </a:txBody>
                  <a:tcPr/>
                </a:tc>
                <a:tc>
                  <a:txBody>
                    <a:bodyPr/>
                    <a:lstStyle/>
                    <a:p>
                      <a:endParaRPr lang="en-TZ"/>
                    </a:p>
                  </a:txBody>
                  <a:tcPr/>
                </a:tc>
                <a:tc>
                  <a:txBody>
                    <a:bodyPr/>
                    <a:lstStyle/>
                    <a:p>
                      <a:r>
                        <a:rPr lang="en-US" dirty="0"/>
                        <a:t>X</a:t>
                      </a:r>
                      <a:endParaRPr lang="en-TZ" dirty="0"/>
                    </a:p>
                  </a:txBody>
                  <a:tcPr/>
                </a:tc>
                <a:tc>
                  <a:txBody>
                    <a:bodyPr/>
                    <a:lstStyle/>
                    <a:p>
                      <a:r>
                        <a:rPr lang="en-US" dirty="0"/>
                        <a:t>X</a:t>
                      </a:r>
                      <a:endParaRPr lang="en-TZ" dirty="0"/>
                    </a:p>
                  </a:txBody>
                  <a:tcPr/>
                </a:tc>
                <a:extLst>
                  <a:ext uri="{0D108BD9-81ED-4DB2-BD59-A6C34878D82A}">
                    <a16:rowId xmlns:a16="http://schemas.microsoft.com/office/drawing/2014/main" val="1444326237"/>
                  </a:ext>
                </a:extLst>
              </a:tr>
              <a:tr h="66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Usability Evolution</a:t>
                      </a:r>
                    </a:p>
                    <a:p>
                      <a:endParaRPr lang="en-TZ" dirty="0">
                        <a:latin typeface="Times New Roman" panose="02020603050405020304" pitchFamily="18" charset="0"/>
                        <a:cs typeface="Times New Roman" panose="02020603050405020304" pitchFamily="18" charset="0"/>
                      </a:endParaRPr>
                    </a:p>
                  </a:txBody>
                  <a:tcPr/>
                </a:tc>
                <a:tc>
                  <a:txBody>
                    <a:bodyPr/>
                    <a:lstStyle/>
                    <a:p>
                      <a:endParaRPr lang="en-TZ"/>
                    </a:p>
                  </a:txBody>
                  <a:tcPr/>
                </a:tc>
                <a:tc>
                  <a:txBody>
                    <a:bodyPr/>
                    <a:lstStyle/>
                    <a:p>
                      <a:endParaRPr lang="en-TZ"/>
                    </a:p>
                  </a:txBody>
                  <a:tcPr/>
                </a:tc>
                <a:tc>
                  <a:txBody>
                    <a:bodyPr/>
                    <a:lstStyle/>
                    <a:p>
                      <a:endParaRPr lang="en-TZ"/>
                    </a:p>
                  </a:txBody>
                  <a:tcPr/>
                </a:tc>
                <a:tc>
                  <a:txBody>
                    <a:bodyPr/>
                    <a:lstStyle/>
                    <a:p>
                      <a:endParaRPr lang="en-TZ"/>
                    </a:p>
                  </a:txBody>
                  <a:tcPr/>
                </a:tc>
                <a:tc>
                  <a:txBody>
                    <a:bodyPr/>
                    <a:lstStyle/>
                    <a:p>
                      <a:r>
                        <a:rPr lang="en-US" dirty="0"/>
                        <a:t>X</a:t>
                      </a:r>
                      <a:endParaRPr lang="en-TZ" dirty="0"/>
                    </a:p>
                  </a:txBody>
                  <a:tcPr/>
                </a:tc>
                <a:extLst>
                  <a:ext uri="{0D108BD9-81ED-4DB2-BD59-A6C34878D82A}">
                    <a16:rowId xmlns:a16="http://schemas.microsoft.com/office/drawing/2014/main" val="2616732140"/>
                  </a:ext>
                </a:extLst>
              </a:tr>
              <a:tr h="66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Thesis and Report Writing</a:t>
                      </a:r>
                    </a:p>
                    <a:p>
                      <a:endParaRPr lang="en-TZ" dirty="0">
                        <a:latin typeface="Times New Roman" panose="02020603050405020304" pitchFamily="18" charset="0"/>
                        <a:cs typeface="Times New Roman" panose="02020603050405020304" pitchFamily="18" charset="0"/>
                      </a:endParaRPr>
                    </a:p>
                  </a:txBody>
                  <a:tcPr/>
                </a:tc>
                <a:tc>
                  <a:txBody>
                    <a:bodyPr/>
                    <a:lstStyle/>
                    <a:p>
                      <a:r>
                        <a:rPr lang="en-US" dirty="0"/>
                        <a:t>X</a:t>
                      </a:r>
                      <a:endParaRPr lang="en-TZ" dirty="0"/>
                    </a:p>
                  </a:txBody>
                  <a:tcPr/>
                </a:tc>
                <a:tc>
                  <a:txBody>
                    <a:bodyPr/>
                    <a:lstStyle/>
                    <a:p>
                      <a:r>
                        <a:rPr lang="en-US" dirty="0"/>
                        <a:t>X</a:t>
                      </a:r>
                      <a:endParaRPr lang="en-TZ" dirty="0"/>
                    </a:p>
                  </a:txBody>
                  <a:tcPr/>
                </a:tc>
                <a:tc>
                  <a:txBody>
                    <a:bodyPr/>
                    <a:lstStyle/>
                    <a:p>
                      <a:r>
                        <a:rPr lang="en-US" dirty="0"/>
                        <a:t>X</a:t>
                      </a:r>
                      <a:endParaRPr lang="en-TZ" dirty="0"/>
                    </a:p>
                  </a:txBody>
                  <a:tcPr/>
                </a:tc>
                <a:tc>
                  <a:txBody>
                    <a:bodyPr/>
                    <a:lstStyle/>
                    <a:p>
                      <a:r>
                        <a:rPr lang="en-US" dirty="0"/>
                        <a:t>X</a:t>
                      </a:r>
                      <a:endParaRPr lang="en-TZ" dirty="0"/>
                    </a:p>
                  </a:txBody>
                  <a:tcPr/>
                </a:tc>
                <a:tc>
                  <a:txBody>
                    <a:bodyPr/>
                    <a:lstStyle/>
                    <a:p>
                      <a:r>
                        <a:rPr lang="en-US" dirty="0"/>
                        <a:t>X</a:t>
                      </a:r>
                      <a:endParaRPr lang="en-TZ" dirty="0"/>
                    </a:p>
                  </a:txBody>
                  <a:tcPr/>
                </a:tc>
                <a:extLst>
                  <a:ext uri="{0D108BD9-81ED-4DB2-BD59-A6C34878D82A}">
                    <a16:rowId xmlns:a16="http://schemas.microsoft.com/office/drawing/2014/main" val="101297690"/>
                  </a:ext>
                </a:extLst>
              </a:tr>
            </a:tbl>
          </a:graphicData>
        </a:graphic>
      </p:graphicFrame>
    </p:spTree>
    <p:extLst>
      <p:ext uri="{BB962C8B-B14F-4D97-AF65-F5344CB8AC3E}">
        <p14:creationId xmlns:p14="http://schemas.microsoft.com/office/powerpoint/2010/main" val="4025489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449-5923-46AB-9D6E-4DCA2BECF22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BUDGET OF THE PROJECT.</a:t>
            </a:r>
            <a:endParaRPr lang="en-TZ"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79F12DD6-9508-48AD-B008-489E26F39D44}"/>
              </a:ext>
            </a:extLst>
          </p:cNvPr>
          <p:cNvGraphicFramePr>
            <a:graphicFrameLocks noGrp="1"/>
          </p:cNvGraphicFramePr>
          <p:nvPr>
            <p:ph idx="1"/>
            <p:extLst>
              <p:ext uri="{D42A27DB-BD31-4B8C-83A1-F6EECF244321}">
                <p14:modId xmlns:p14="http://schemas.microsoft.com/office/powerpoint/2010/main" val="2046018346"/>
              </p:ext>
            </p:extLst>
          </p:nvPr>
        </p:nvGraphicFramePr>
        <p:xfrm>
          <a:off x="0" y="1265275"/>
          <a:ext cx="12191999" cy="5761622"/>
        </p:xfrm>
        <a:graphic>
          <a:graphicData uri="http://schemas.openxmlformats.org/drawingml/2006/table">
            <a:tbl>
              <a:tblPr>
                <a:tableStyleId>{5C22544A-7EE6-4342-B048-85BDC9FD1C3A}</a:tableStyleId>
              </a:tblPr>
              <a:tblGrid>
                <a:gridCol w="4063549">
                  <a:extLst>
                    <a:ext uri="{9D8B030D-6E8A-4147-A177-3AD203B41FA5}">
                      <a16:colId xmlns:a16="http://schemas.microsoft.com/office/drawing/2014/main" val="49179212"/>
                    </a:ext>
                  </a:extLst>
                </a:gridCol>
                <a:gridCol w="4063549">
                  <a:extLst>
                    <a:ext uri="{9D8B030D-6E8A-4147-A177-3AD203B41FA5}">
                      <a16:colId xmlns:a16="http://schemas.microsoft.com/office/drawing/2014/main" val="3508939240"/>
                    </a:ext>
                  </a:extLst>
                </a:gridCol>
                <a:gridCol w="4064901">
                  <a:extLst>
                    <a:ext uri="{9D8B030D-6E8A-4147-A177-3AD203B41FA5}">
                      <a16:colId xmlns:a16="http://schemas.microsoft.com/office/drawing/2014/main" val="3290684941"/>
                    </a:ext>
                  </a:extLst>
                </a:gridCol>
              </a:tblGrid>
              <a:tr h="426552">
                <a:tc>
                  <a:txBody>
                    <a:bodyPr/>
                    <a:lstStyle/>
                    <a:p>
                      <a:pPr algn="just">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Item</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Description</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Cost (TZS)</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1660654071"/>
                  </a:ext>
                </a:extLst>
              </a:tr>
              <a:tr h="831182">
                <a:tc>
                  <a:txBody>
                    <a:bodyPr/>
                    <a:lstStyle/>
                    <a:p>
                      <a:pPr algn="just">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Software licenses</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Window Server evaluation (free), no propriety DB</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r">
                        <a:lnSpc>
                          <a:spcPct val="150000"/>
                        </a:lnSpc>
                        <a:spcBef>
                          <a:spcPts val="500"/>
                        </a:spcBef>
                        <a:spcAft>
                          <a:spcPts val="1000"/>
                        </a:spcAft>
                      </a:pPr>
                      <a:r>
                        <a:rPr lang="en-TZ" sz="1800">
                          <a:effectLst/>
                          <a:latin typeface="Times New Roman" panose="02020603050405020304" pitchFamily="18" charset="0"/>
                          <a:cs typeface="Times New Roman" panose="02020603050405020304" pitchFamily="18" charset="0"/>
                        </a:rPr>
                        <a:t>0</a:t>
                      </a:r>
                      <a:endParaRPr lang="en-TZ"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2060189198"/>
                  </a:ext>
                </a:extLst>
              </a:tr>
              <a:tr h="831182">
                <a:tc>
                  <a:txBody>
                    <a:bodyPr/>
                    <a:lstStyle/>
                    <a:p>
                      <a:pPr algn="just">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Cloud hosting</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Digital ocean droplets (2 months) for remote demo</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r">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40,0</a:t>
                      </a:r>
                      <a:r>
                        <a:rPr lang="en-TZ" sz="1800" dirty="0">
                          <a:effectLst/>
                          <a:latin typeface="Times New Roman" panose="02020603050405020304" pitchFamily="18" charset="0"/>
                          <a:cs typeface="Times New Roman" panose="02020603050405020304" pitchFamily="18" charset="0"/>
                        </a:rPr>
                        <a:t>00/=</a:t>
                      </a:r>
                      <a:endParaRPr lang="en-TZ"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3888995564"/>
                  </a:ext>
                </a:extLst>
              </a:tr>
              <a:tr h="831182">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On-premise Server/</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Used Dell PowerEdge (Simulation Environment)</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r">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25</a:t>
                      </a:r>
                      <a:r>
                        <a:rPr lang="en-TZ" sz="1800" dirty="0">
                          <a:effectLst/>
                          <a:latin typeface="Times New Roman" panose="02020603050405020304" pitchFamily="18" charset="0"/>
                          <a:cs typeface="Times New Roman" panose="02020603050405020304" pitchFamily="18" charset="0"/>
                        </a:rPr>
                        <a:t>0,000/=</a:t>
                      </a:r>
                      <a:endParaRPr lang="en-TZ"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4194761976"/>
                  </a:ext>
                </a:extLst>
              </a:tr>
              <a:tr h="440684">
                <a:tc>
                  <a:txBody>
                    <a:bodyPr/>
                    <a:lstStyle/>
                    <a:p>
                      <a:pPr algn="just">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Internet Data</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4G/5G modem and monthly bundle</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r">
                        <a:lnSpc>
                          <a:spcPct val="150000"/>
                        </a:lnSpc>
                        <a:spcBef>
                          <a:spcPts val="500"/>
                        </a:spcBef>
                        <a:spcAft>
                          <a:spcPts val="1000"/>
                        </a:spcAft>
                      </a:pPr>
                      <a:r>
                        <a:rPr lang="en-TZ" sz="1800" dirty="0">
                          <a:effectLst/>
                          <a:latin typeface="Times New Roman" panose="02020603050405020304" pitchFamily="18" charset="0"/>
                          <a:cs typeface="Times New Roman" panose="02020603050405020304" pitchFamily="18" charset="0"/>
                        </a:rPr>
                        <a:t>35,000/=</a:t>
                      </a:r>
                      <a:endParaRPr lang="en-TZ"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1244622101"/>
                  </a:ext>
                </a:extLst>
              </a:tr>
              <a:tr h="638600">
                <a:tc>
                  <a:txBody>
                    <a:bodyPr/>
                    <a:lstStyle/>
                    <a:p>
                      <a:pPr algn="just">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Stationary and printing</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Consent forms,questionnaires, reports</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r">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7</a:t>
                      </a:r>
                      <a:r>
                        <a:rPr lang="en-TZ" sz="1800" dirty="0">
                          <a:effectLst/>
                          <a:latin typeface="Times New Roman" panose="02020603050405020304" pitchFamily="18" charset="0"/>
                          <a:cs typeface="Times New Roman" panose="02020603050405020304" pitchFamily="18" charset="0"/>
                        </a:rPr>
                        <a:t>0,000/=</a:t>
                      </a:r>
                      <a:endParaRPr lang="en-TZ"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2356608212"/>
                  </a:ext>
                </a:extLst>
              </a:tr>
              <a:tr h="831182">
                <a:tc>
                  <a:txBody>
                    <a:bodyPr/>
                    <a:lstStyle/>
                    <a:p>
                      <a:pPr>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Transport and communication</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Site visit to hospitals (estimated more than 5 trips)</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r">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1</a:t>
                      </a:r>
                      <a:r>
                        <a:rPr lang="en-TZ" sz="1800" dirty="0">
                          <a:effectLst/>
                          <a:latin typeface="Times New Roman" panose="02020603050405020304" pitchFamily="18" charset="0"/>
                          <a:cs typeface="Times New Roman" panose="02020603050405020304" pitchFamily="18" charset="0"/>
                        </a:rPr>
                        <a:t>0,000/=</a:t>
                      </a:r>
                      <a:endParaRPr lang="en-TZ"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3046160845"/>
                  </a:ext>
                </a:extLst>
              </a:tr>
              <a:tr h="426552">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Miscellaneous</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Contingency (10%)</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r">
                        <a:lnSpc>
                          <a:spcPct val="150000"/>
                        </a:lnSpc>
                        <a:spcBef>
                          <a:spcPts val="500"/>
                        </a:spcBef>
                        <a:spcAft>
                          <a:spcPts val="1000"/>
                        </a:spcAft>
                      </a:pPr>
                      <a:r>
                        <a:rPr lang="en-US" sz="1800" dirty="0">
                          <a:effectLst/>
                          <a:latin typeface="Times New Roman" panose="02020603050405020304" pitchFamily="18" charset="0"/>
                          <a:cs typeface="Times New Roman" panose="02020603050405020304" pitchFamily="18" charset="0"/>
                        </a:rPr>
                        <a:t>20</a:t>
                      </a:r>
                      <a:r>
                        <a:rPr lang="en-TZ" sz="1800" dirty="0">
                          <a:effectLst/>
                          <a:latin typeface="Times New Roman" panose="02020603050405020304" pitchFamily="18" charset="0"/>
                          <a:cs typeface="Times New Roman" panose="02020603050405020304" pitchFamily="18" charset="0"/>
                        </a:rPr>
                        <a:t>,000/=</a:t>
                      </a:r>
                      <a:endParaRPr lang="en-TZ"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3975799492"/>
                  </a:ext>
                </a:extLst>
              </a:tr>
              <a:tr h="426552">
                <a:tc>
                  <a:txBody>
                    <a:bodyPr/>
                    <a:lstStyle/>
                    <a:p>
                      <a:pPr algn="just">
                        <a:lnSpc>
                          <a:spcPct val="150000"/>
                        </a:lnSpc>
                        <a:spcBef>
                          <a:spcPts val="500"/>
                        </a:spcBef>
                        <a:spcAft>
                          <a:spcPts val="1000"/>
                        </a:spcAft>
                      </a:pPr>
                      <a:r>
                        <a:rPr lang="en-US" sz="1800">
                          <a:effectLst/>
                          <a:latin typeface="Times New Roman" panose="02020603050405020304" pitchFamily="18" charset="0"/>
                          <a:cs typeface="Times New Roman" panose="02020603050405020304" pitchFamily="18" charset="0"/>
                        </a:rPr>
                        <a:t>TOTAL</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just">
                        <a:lnSpc>
                          <a:spcPct val="150000"/>
                        </a:lnSpc>
                        <a:spcBef>
                          <a:spcPts val="500"/>
                        </a:spcBef>
                        <a:spcAft>
                          <a:spcPts val="1000"/>
                        </a:spcAft>
                      </a:pPr>
                      <a:r>
                        <a:rPr lang="en-TZ" sz="1800">
                          <a:effectLst/>
                          <a:latin typeface="Times New Roman" panose="02020603050405020304" pitchFamily="18" charset="0"/>
                          <a:cs typeface="Times New Roman" panose="02020603050405020304" pitchFamily="18" charset="0"/>
                        </a:rPr>
                        <a:t> </a:t>
                      </a:r>
                      <a:endParaRPr lang="en-TZ"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tc>
                  <a:txBody>
                    <a:bodyPr/>
                    <a:lstStyle/>
                    <a:p>
                      <a:pPr algn="r">
                        <a:lnSpc>
                          <a:spcPct val="150000"/>
                        </a:lnSpc>
                        <a:spcBef>
                          <a:spcPts val="500"/>
                        </a:spcBef>
                        <a:spcAft>
                          <a:spcPts val="10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415,000/=</a:t>
                      </a:r>
                      <a:endParaRPr lang="en-TZ"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3677" marR="53677" marT="35785" marB="35785"/>
                </a:tc>
                <a:extLst>
                  <a:ext uri="{0D108BD9-81ED-4DB2-BD59-A6C34878D82A}">
                    <a16:rowId xmlns:a16="http://schemas.microsoft.com/office/drawing/2014/main" val="2532200026"/>
                  </a:ext>
                </a:extLst>
              </a:tr>
            </a:tbl>
          </a:graphicData>
        </a:graphic>
      </p:graphicFrame>
    </p:spTree>
    <p:extLst>
      <p:ext uri="{BB962C8B-B14F-4D97-AF65-F5344CB8AC3E}">
        <p14:creationId xmlns:p14="http://schemas.microsoft.com/office/powerpoint/2010/main" val="1686616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E6584-D2C4-BCF1-360C-AB527A8142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71AD78-93A3-F1A1-9DFE-BA09FEA9A3B4}"/>
              </a:ext>
            </a:extLst>
          </p:cNvPr>
          <p:cNvSpPr>
            <a:spLocks noGrp="1"/>
          </p:cNvSpPr>
          <p:nvPr>
            <p:ph idx="1"/>
          </p:nvPr>
        </p:nvSpPr>
        <p:spPr/>
        <p:txBody>
          <a:bodyPr>
            <a:normAutofit/>
          </a:bodyPr>
          <a:lstStyle/>
          <a:p>
            <a:pPr marL="0" indent="0" algn="ctr">
              <a:buNone/>
            </a:pPr>
            <a:r>
              <a:rPr lang="en-US" sz="6000" dirty="0">
                <a:latin typeface="Times New Roman" panose="02020603050405020304" pitchFamily="18" charset="0"/>
                <a:cs typeface="Times New Roman" panose="02020603050405020304" pitchFamily="18" charset="0"/>
              </a:rPr>
              <a:t>THANKS FOR LISTENING.</a:t>
            </a:r>
          </a:p>
        </p:txBody>
      </p:sp>
    </p:spTree>
    <p:extLst>
      <p:ext uri="{BB962C8B-B14F-4D97-AF65-F5344CB8AC3E}">
        <p14:creationId xmlns:p14="http://schemas.microsoft.com/office/powerpoint/2010/main" val="1075773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414</TotalTime>
  <Words>893</Words>
  <Application>Microsoft Office PowerPoint</Application>
  <PresentationFormat>Widescreen</PresentationFormat>
  <Paragraphs>149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                RUAHA CATHOLIC UNIVERSITY(RUCU)        FACULT OF INFORMATION AND COMMUNICATION TECHNOLOGY DEPARTMENT OF COMPUTER SCIENCE TITLE: SECURE DIGITAL EXCHANGE SYSTEM FOR INTER-HOSPITAL PATIENT TRANSFER </vt:lpstr>
      <vt:lpstr>GROUP MEMBERS</vt:lpstr>
      <vt:lpstr>PRESENTATION OUTLINE.</vt:lpstr>
      <vt:lpstr>INTRODUCTION AND BACKGROUND</vt:lpstr>
      <vt:lpstr> STATEMENT OF THE PROBLEM</vt:lpstr>
      <vt:lpstr>OBJECTIVES OF THE PROJECT</vt:lpstr>
      <vt:lpstr>SPECIFIC OBJECTIVES.</vt:lpstr>
      <vt:lpstr>METHODOLOGY</vt:lpstr>
      <vt:lpstr>METHODOLOGY CONT’</vt:lpstr>
      <vt:lpstr>EXPECTED OUT COMES OF THE PROJECT</vt:lpstr>
      <vt:lpstr>Expected Impact </vt:lpstr>
      <vt:lpstr>PROPOSAL TIME FRAME</vt:lpstr>
      <vt:lpstr>BUDGET OF THE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RUAHA CATHOLIC UNIVERSITY(RUCU) FACULT OF INFORMATION AND COMMUNICATION TECHNOLOGY DEPARTMENT OF COMPUTER SCIENCE.</dc:title>
  <dc:creator>KATIKANJEMU</dc:creator>
  <cp:lastModifiedBy>frown kidodi</cp:lastModifiedBy>
  <cp:revision>27</cp:revision>
  <dcterms:created xsi:type="dcterms:W3CDTF">2026-02-15T09:49:26Z</dcterms:created>
  <dcterms:modified xsi:type="dcterms:W3CDTF">2026-02-18T10:13:09Z</dcterms:modified>
</cp:coreProperties>
</file>